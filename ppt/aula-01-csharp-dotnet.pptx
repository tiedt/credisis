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6667500" cy="1123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465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667500" cy="2200000"/>
          </a:xfrm>
          <a:prstGeom prst="rect">
            <a:avLst/>
          </a:prstGeom>
          <a:solidFill>
            <a:srgbClr val="00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0000" y="200000"/>
            <a:ext cx="59075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Lato"/>
              </a:rPr>
              <a:t>GRUPO DE ESTUDOS CREDISIS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000" y="700000"/>
            <a:ext cx="59075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FFFFFF"/>
                </a:solidFill>
                <a:latin typeface="Lato"/>
              </a:rPr>
              <a:t>C#/.NET </a:t>
            </a:r>
            <a:r>
              <a:rPr sz="3600" b="1" dirty="0" err="1">
                <a:solidFill>
                  <a:srgbClr val="FFFFFF"/>
                </a:solidFill>
                <a:latin typeface="Lato"/>
              </a:rPr>
              <a:t>na</a:t>
            </a:r>
            <a:r>
              <a:rPr sz="3600" b="1" dirty="0">
                <a:solidFill>
                  <a:srgbClr val="FFFFFF"/>
                </a:solidFill>
                <a:latin typeface="Lato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Lato"/>
              </a:rPr>
              <a:t>Prática</a:t>
            </a:r>
            <a:endParaRPr sz="3600" b="1" dirty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0000" y="1550000"/>
            <a:ext cx="59075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FF"/>
                </a:solidFill>
                <a:latin typeface="Lato"/>
              </a:rPr>
              <a:t>Aula 01 — Fundamentos e Arquitetura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0000" y="2600000"/>
            <a:ext cx="5907500" cy="1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0000" y="2800000"/>
            <a:ext cx="59075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endParaRPr sz="1800" b="1" dirty="0">
              <a:solidFill>
                <a:srgbClr val="006AC9"/>
              </a:solidFill>
              <a:latin typeface="Lato"/>
            </a:endParaRPr>
          </a:p>
          <a:p>
            <a:pPr algn="l">
              <a:spcBef>
                <a:spcPts val="600"/>
              </a:spcBef>
            </a:pPr>
            <a:r>
              <a:rPr sz="1800" b="0" dirty="0">
                <a:solidFill>
                  <a:srgbClr val="333333"/>
                </a:solidFill>
                <a:latin typeface="Lato"/>
              </a:rPr>
              <a:t>→  Por </a:t>
            </a:r>
            <a:r>
              <a:rPr sz="1800" b="0" dirty="0" err="1">
                <a:solidFill>
                  <a:srgbClr val="333333"/>
                </a:solidFill>
                <a:latin typeface="Lato"/>
              </a:rPr>
              <a:t>que</a:t>
            </a:r>
            <a:r>
              <a:rPr sz="1800" b="0" dirty="0">
                <a:solidFill>
                  <a:srgbClr val="333333"/>
                </a:solidFill>
                <a:latin typeface="Lato"/>
              </a:rPr>
              <a:t> C#/.NET?</a:t>
            </a:r>
          </a:p>
          <a:p>
            <a:pPr algn="l">
              <a:spcBef>
                <a:spcPts val="600"/>
              </a:spcBef>
            </a:pPr>
            <a:r>
              <a:rPr sz="1800" b="0" dirty="0">
                <a:solidFill>
                  <a:srgbClr val="333333"/>
                </a:solidFill>
                <a:latin typeface="Lato"/>
              </a:rPr>
              <a:t>→  </a:t>
            </a:r>
            <a:r>
              <a:rPr sz="1800" b="0" dirty="0" err="1">
                <a:solidFill>
                  <a:srgbClr val="333333"/>
                </a:solidFill>
                <a:latin typeface="Lato"/>
              </a:rPr>
              <a:t>Ecossistema</a:t>
            </a:r>
            <a:r>
              <a:rPr sz="1800" b="0" dirty="0">
                <a:solidFill>
                  <a:srgbClr val="333333"/>
                </a:solidFill>
                <a:latin typeface="Lato"/>
              </a:rPr>
              <a:t> .NET</a:t>
            </a:r>
          </a:p>
          <a:p>
            <a:pPr algn="l">
              <a:spcBef>
                <a:spcPts val="600"/>
              </a:spcBef>
            </a:pPr>
            <a:r>
              <a:rPr sz="1800" b="0" dirty="0">
                <a:solidFill>
                  <a:srgbClr val="333333"/>
                </a:solidFill>
                <a:latin typeface="Lato"/>
              </a:rPr>
              <a:t>→  Clean Architecture</a:t>
            </a:r>
          </a:p>
          <a:p>
            <a:pPr algn="l">
              <a:spcBef>
                <a:spcPts val="600"/>
              </a:spcBef>
            </a:pPr>
            <a:r>
              <a:rPr sz="1800" b="0" dirty="0">
                <a:solidFill>
                  <a:srgbClr val="333333"/>
                </a:solidFill>
                <a:latin typeface="Lato"/>
              </a:rPr>
              <a:t>→  </a:t>
            </a:r>
            <a:r>
              <a:rPr sz="1800" b="0" dirty="0" err="1">
                <a:solidFill>
                  <a:srgbClr val="333333"/>
                </a:solidFill>
                <a:latin typeface="Lato"/>
              </a:rPr>
              <a:t>Camadas</a:t>
            </a:r>
            <a:r>
              <a:rPr sz="1800" b="0" dirty="0">
                <a:solidFill>
                  <a:srgbClr val="333333"/>
                </a:solidFill>
                <a:latin typeface="Lato"/>
              </a:rPr>
              <a:t> do </a:t>
            </a:r>
            <a:r>
              <a:rPr sz="1800" b="0" dirty="0" err="1">
                <a:solidFill>
                  <a:srgbClr val="333333"/>
                </a:solidFill>
                <a:latin typeface="Lato"/>
              </a:rPr>
              <a:t>projeto</a:t>
            </a:r>
            <a:endParaRPr sz="1800" b="0" dirty="0">
              <a:solidFill>
                <a:srgbClr val="333333"/>
              </a:solidFill>
              <a:latin typeface="Lato"/>
            </a:endParaRPr>
          </a:p>
          <a:p>
            <a:pPr algn="l">
              <a:spcBef>
                <a:spcPts val="600"/>
              </a:spcBef>
            </a:pPr>
            <a:r>
              <a:rPr sz="1800" b="0" dirty="0">
                <a:solidFill>
                  <a:srgbClr val="333333"/>
                </a:solidFill>
                <a:latin typeface="Lato"/>
              </a:rPr>
              <a:t>→  </a:t>
            </a:r>
            <a:r>
              <a:rPr sz="1800" b="0" dirty="0" err="1">
                <a:solidFill>
                  <a:srgbClr val="333333"/>
                </a:solidFill>
                <a:latin typeface="Lato"/>
              </a:rPr>
              <a:t>Estudo</a:t>
            </a:r>
            <a:r>
              <a:rPr sz="1800" b="0" dirty="0">
                <a:solidFill>
                  <a:srgbClr val="333333"/>
                </a:solidFill>
                <a:latin typeface="Lato"/>
              </a:rPr>
              <a:t> de </a:t>
            </a:r>
            <a:r>
              <a:rPr sz="1800" b="0" dirty="0" err="1">
                <a:solidFill>
                  <a:srgbClr val="333333"/>
                </a:solidFill>
                <a:latin typeface="Lato"/>
              </a:rPr>
              <a:t>caso</a:t>
            </a:r>
            <a:r>
              <a:rPr sz="1800" b="0" dirty="0">
                <a:solidFill>
                  <a:srgbClr val="333333"/>
                </a:solidFill>
                <a:latin typeface="Lato"/>
              </a:rPr>
              <a:t>: LC </a:t>
            </a:r>
            <a:r>
              <a:rPr sz="1800" b="0" dirty="0" err="1">
                <a:solidFill>
                  <a:srgbClr val="333333"/>
                </a:solidFill>
                <a:latin typeface="Lato"/>
              </a:rPr>
              <a:t>Concreto</a:t>
            </a:r>
            <a:endParaRPr sz="1800" b="0" dirty="0">
              <a:solidFill>
                <a:srgbClr val="333333"/>
              </a:solidFill>
              <a:latin typeface="Lato"/>
            </a:endParaRPr>
          </a:p>
          <a:p>
            <a:pPr algn="l">
              <a:spcBef>
                <a:spcPts val="600"/>
              </a:spcBef>
            </a:pPr>
            <a:r>
              <a:rPr sz="1800" b="0" dirty="0">
                <a:solidFill>
                  <a:srgbClr val="333333"/>
                </a:solidFill>
                <a:latin typeface="Lato"/>
              </a:rPr>
              <a:t>→  </a:t>
            </a:r>
            <a:r>
              <a:rPr sz="1800" b="0" dirty="0" err="1">
                <a:solidFill>
                  <a:srgbClr val="333333"/>
                </a:solidFill>
                <a:latin typeface="Lato"/>
              </a:rPr>
              <a:t>Desafio</a:t>
            </a:r>
            <a:r>
              <a:rPr sz="1800" b="0" dirty="0">
                <a:solidFill>
                  <a:srgbClr val="333333"/>
                </a:solidFill>
                <a:latin typeface="Lato"/>
              </a:rPr>
              <a:t> da </a:t>
            </a:r>
            <a:r>
              <a:rPr sz="1800" b="0" dirty="0" err="1">
                <a:solidFill>
                  <a:srgbClr val="333333"/>
                </a:solidFill>
                <a:latin typeface="Lato"/>
              </a:rPr>
              <a:t>semana</a:t>
            </a:r>
            <a:endParaRPr sz="1800" b="0" dirty="0">
              <a:solidFill>
                <a:srgbClr val="333333"/>
              </a:solidFill>
              <a:latin typeface="La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0000" y="10200000"/>
            <a:ext cx="59075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Lato"/>
              </a:rPr>
              <a:t>Setembro 2026  ·  ~40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667500" cy="1600000"/>
          </a:xfrm>
          <a:prstGeom prst="rect">
            <a:avLst/>
          </a:prstGeom>
          <a:solidFill>
            <a:srgbClr val="00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0000" y="150000"/>
            <a:ext cx="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C107"/>
                </a:solidFill>
                <a:latin typeface="Lat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50000"/>
            <a:ext cx="56075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Lato"/>
              </a:rPr>
              <a:t>Por </a:t>
            </a:r>
            <a:r>
              <a:rPr sz="2600" b="1" dirty="0" err="1">
                <a:solidFill>
                  <a:srgbClr val="FFFFFF"/>
                </a:solidFill>
                <a:latin typeface="Lato"/>
              </a:rPr>
              <a:t>que</a:t>
            </a:r>
            <a:r>
              <a:rPr sz="2600" b="1" dirty="0">
                <a:solidFill>
                  <a:srgbClr val="FFFFFF"/>
                </a:solidFill>
                <a:latin typeface="Lato"/>
              </a:rPr>
              <a:t> C#/.NET?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1050000"/>
            <a:ext cx="59075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Lato"/>
              </a:rPr>
              <a:t>C#/.NET na Prática — Aula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1750000"/>
            <a:ext cx="59075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006AC9"/>
                </a:solidFill>
                <a:latin typeface="Lato"/>
              </a:rPr>
              <a:t>Mercado forte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000" y="2070000"/>
            <a:ext cx="58275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33333"/>
                </a:solidFill>
                <a:latin typeface="Lato"/>
              </a:rPr>
              <a:t>Uma das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linguagens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mais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demandadas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do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Brasil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. Bancos,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cooperativas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,
ERP,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saúde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e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governo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adotam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.NET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como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stack principal.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000" y="2620000"/>
            <a:ext cx="59075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006AC9"/>
                </a:solidFill>
                <a:latin typeface="Lato"/>
              </a:rPr>
              <a:t>  </a:t>
            </a:r>
            <a:r>
              <a:rPr sz="1500" b="1" dirty="0" err="1">
                <a:solidFill>
                  <a:srgbClr val="006AC9"/>
                </a:solidFill>
                <a:latin typeface="Lato"/>
              </a:rPr>
              <a:t>Tipagem</a:t>
            </a:r>
            <a:r>
              <a:rPr sz="1500" b="1" dirty="0">
                <a:solidFill>
                  <a:srgbClr val="006AC9"/>
                </a:solidFill>
                <a:latin typeface="Lato"/>
              </a:rPr>
              <a:t> forte + </a:t>
            </a:r>
            <a:r>
              <a:rPr sz="1500" b="1" dirty="0" err="1">
                <a:solidFill>
                  <a:srgbClr val="006AC9"/>
                </a:solidFill>
                <a:latin typeface="Lato"/>
              </a:rPr>
              <a:t>segurança</a:t>
            </a:r>
            <a:endParaRPr sz="1500" b="1" dirty="0">
              <a:solidFill>
                <a:srgbClr val="006AC9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0000" y="2940000"/>
            <a:ext cx="58275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Lato"/>
              </a:rPr>
              <a:t>Erros são capturados em tempo de compilação,
não em produção às 2h da manhã.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000" y="3490000"/>
            <a:ext cx="59075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006AC9"/>
                </a:solidFill>
                <a:latin typeface="Lato"/>
              </a:rPr>
              <a:t>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00" y="3810000"/>
            <a:ext cx="58275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33333"/>
                </a:solidFill>
                <a:latin typeface="Lato"/>
              </a:rPr>
              <a:t>.NET </a:t>
            </a:r>
            <a:r>
              <a:rPr lang="en-US" sz="1200" b="0" dirty="0">
                <a:solidFill>
                  <a:srgbClr val="333333"/>
                </a:solidFill>
                <a:latin typeface="Lato"/>
              </a:rPr>
              <a:t>10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é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consistentemente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top-3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em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benchmarks
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TechEmpower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de APIs HTTP.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000" y="4360000"/>
            <a:ext cx="59075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006AC9"/>
                </a:solidFill>
                <a:latin typeface="Lato"/>
              </a:rPr>
              <a:t> </a:t>
            </a:r>
            <a:r>
              <a:rPr sz="1500" b="1" dirty="0" err="1">
                <a:solidFill>
                  <a:srgbClr val="006AC9"/>
                </a:solidFill>
                <a:latin typeface="Lato"/>
              </a:rPr>
              <a:t>Ecossistema</a:t>
            </a:r>
            <a:r>
              <a:rPr sz="1500" b="1" dirty="0">
                <a:solidFill>
                  <a:srgbClr val="006AC9"/>
                </a:solidFill>
                <a:latin typeface="Lato"/>
              </a:rPr>
              <a:t> maduro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000" y="4680000"/>
            <a:ext cx="58275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33333"/>
                </a:solidFill>
                <a:latin typeface="Lato"/>
              </a:rPr>
              <a:t>EF Core, ASP.NET Core,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SignalR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,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gRPC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, Blazor...
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Tudo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first-party e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bem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documentado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000" y="5230000"/>
            <a:ext cx="59075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006AC9"/>
                </a:solidFill>
                <a:latin typeface="Lato"/>
              </a:rPr>
              <a:t> Nossa </a:t>
            </a:r>
            <a:r>
              <a:rPr sz="1500" b="1" dirty="0" err="1">
                <a:solidFill>
                  <a:srgbClr val="006AC9"/>
                </a:solidFill>
                <a:latin typeface="Lato"/>
              </a:rPr>
              <a:t>realidade</a:t>
            </a:r>
            <a:endParaRPr sz="1500" b="1" dirty="0">
              <a:solidFill>
                <a:srgbClr val="006AC9"/>
              </a:solidFill>
              <a:latin typeface="Lat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0000" y="5550000"/>
            <a:ext cx="58275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dirty="0" err="1">
                <a:solidFill>
                  <a:srgbClr val="333333"/>
                </a:solidFill>
                <a:latin typeface="Lato"/>
              </a:rPr>
              <a:t>Varios</a:t>
            </a:r>
            <a:r>
              <a:rPr lang="en-US" sz="1200" b="0" dirty="0">
                <a:solidFill>
                  <a:srgbClr val="333333"/>
                </a:solidFill>
                <a:latin typeface="Lato"/>
              </a:rPr>
              <a:t> </a:t>
            </a:r>
            <a:r>
              <a:rPr lang="en-US" sz="1200" b="0" dirty="0" err="1">
                <a:solidFill>
                  <a:srgbClr val="333333"/>
                </a:solidFill>
                <a:latin typeface="Lato"/>
              </a:rPr>
              <a:t>projetos</a:t>
            </a:r>
            <a:r>
              <a:rPr lang="en-US" sz="1200" b="0" dirty="0">
                <a:solidFill>
                  <a:srgbClr val="333333"/>
                </a:solidFill>
                <a:latin typeface="Lato"/>
              </a:rPr>
              <a:t> </a:t>
            </a:r>
            <a:r>
              <a:rPr lang="en-US" sz="1200" b="0" dirty="0" err="1">
                <a:solidFill>
                  <a:srgbClr val="333333"/>
                </a:solidFill>
                <a:latin typeface="Lato"/>
              </a:rPr>
              <a:t>na</a:t>
            </a:r>
            <a:r>
              <a:rPr lang="en-US" sz="1200" b="0" dirty="0">
                <a:solidFill>
                  <a:srgbClr val="333333"/>
                </a:solidFill>
                <a:latin typeface="Lato"/>
              </a:rPr>
              <a:t> </a:t>
            </a:r>
            <a:r>
              <a:rPr lang="en-US" sz="1200" b="0" dirty="0" err="1">
                <a:solidFill>
                  <a:srgbClr val="333333"/>
                </a:solidFill>
                <a:latin typeface="Lato"/>
              </a:rPr>
              <a:t>Credisis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roda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em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ASP.NET Core + EF Core</a:t>
            </a:r>
            <a:r>
              <a:rPr lang="en-US" sz="1200" b="0" dirty="0">
                <a:solidFill>
                  <a:srgbClr val="333333"/>
                </a:solidFill>
                <a:latin typeface="Lato"/>
              </a:rPr>
              <a:t>.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
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Aprender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aqui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= </a:t>
            </a:r>
            <a:r>
              <a:rPr sz="1200" b="0" dirty="0" err="1">
                <a:solidFill>
                  <a:srgbClr val="333333"/>
                </a:solidFill>
                <a:latin typeface="Lato"/>
              </a:rPr>
              <a:t>produtividade</a:t>
            </a:r>
            <a:r>
              <a:rPr sz="1200" b="0" dirty="0">
                <a:solidFill>
                  <a:srgbClr val="333333"/>
                </a:solidFill>
                <a:latin typeface="Lato"/>
              </a:rPr>
              <a:t>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667500" cy="1600000"/>
          </a:xfrm>
          <a:prstGeom prst="rect">
            <a:avLst/>
          </a:prstGeom>
          <a:solidFill>
            <a:srgbClr val="00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0000" y="150000"/>
            <a:ext cx="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107"/>
                </a:solidFill>
                <a:latin typeface="Lat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50000"/>
            <a:ext cx="56075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Lato"/>
              </a:rPr>
              <a:t>Ecossistema 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1050000"/>
            <a:ext cx="59075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Lato"/>
              </a:rPr>
              <a:t>C#/.NET na Prática — Aula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380000" y="1800000"/>
            <a:ext cx="5907500" cy="480000"/>
          </a:xfrm>
          <a:prstGeom prst="rect">
            <a:avLst/>
          </a:prstGeom>
          <a:solidFill>
            <a:srgbClr val="00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0000" y="1930000"/>
            <a:ext cx="59075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Lato"/>
              </a:rPr>
              <a:t>SEU CÓDIGO C#</a:t>
            </a:r>
          </a:p>
        </p:txBody>
      </p:sp>
      <p:sp>
        <p:nvSpPr>
          <p:cNvPr id="9" name="Rectangle 8"/>
          <p:cNvSpPr/>
          <p:nvPr/>
        </p:nvSpPr>
        <p:spPr>
          <a:xfrm>
            <a:off x="380000" y="2330000"/>
            <a:ext cx="5907500" cy="4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0000" y="2460000"/>
            <a:ext cx="59075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Lato"/>
              </a:rPr>
              <a:t>BCL — Base Class Library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000" y="2860000"/>
            <a:ext cx="5907500" cy="480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0000" y="2990000"/>
            <a:ext cx="59075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Lato"/>
              </a:rPr>
              <a:t>ASP.NET Core / EF Core / 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0000" y="3390000"/>
            <a:ext cx="5907500" cy="48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0000" y="3520000"/>
            <a:ext cx="59075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Lato"/>
              </a:rPr>
              <a:t>CLR — Common Language Runtime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0000" y="3920000"/>
            <a:ext cx="5907500" cy="48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000" y="4050000"/>
            <a:ext cx="59075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Lato"/>
              </a:rPr>
              <a:t>Sistema Operacional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000" y="4750000"/>
            <a:ext cx="59075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Lato"/>
              </a:rPr>
              <a:t>• .NET SDK  →  compilador, dotnet CLI, templates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Lato"/>
              </a:rPr>
              <a:t>• CLR       →  gerencia memória (GC), tipos, segurança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Lato"/>
              </a:rPr>
              <a:t>• BCL       →  coleções, I/O, strings, datas...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Lato"/>
              </a:rPr>
              <a:t>• ASP.NET   →  HTTP, MVC, minimal APIs, WebSockets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Lato"/>
              </a:rPr>
              <a:t>• EF Core   →  ORM para SQL Server, Postgres,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667500" cy="1600000"/>
          </a:xfrm>
          <a:prstGeom prst="rect">
            <a:avLst/>
          </a:prstGeom>
          <a:solidFill>
            <a:srgbClr val="00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0000" y="150000"/>
            <a:ext cx="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107"/>
                </a:solidFill>
                <a:latin typeface="Lat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50000"/>
            <a:ext cx="56075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Lato"/>
              </a:rPr>
              <a:t>Estrutura de um Projeto 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1050000"/>
            <a:ext cx="59075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Lato"/>
              </a:rPr>
              <a:t>C#/.NET na Prática — Aula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380000" y="1750000"/>
            <a:ext cx="5907500" cy="7200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000" y="1900000"/>
            <a:ext cx="5607500" cy="3852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238C5E"/>
                </a:solidFill>
                <a:latin typeface="Courier New"/>
              </a:rPr>
              <a:t>📁 </a:t>
            </a:r>
            <a:r>
              <a:rPr lang="en-US" sz="1200" b="0" dirty="0">
                <a:solidFill>
                  <a:srgbClr val="238C5E"/>
                </a:solidFill>
                <a:latin typeface="Courier New"/>
              </a:rPr>
              <a:t>Credisis.Cliente</a:t>
            </a:r>
            <a:r>
              <a:rPr sz="1200" b="0" dirty="0">
                <a:solidFill>
                  <a:srgbClr val="238C5E"/>
                </a:solidFill>
                <a:latin typeface="Courier New"/>
              </a:rPr>
              <a:t>.sln          ← Solution</a:t>
            </a: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238C5E"/>
                </a:solidFill>
                <a:latin typeface="Courier New"/>
              </a:rPr>
              <a:t>│</a:t>
            </a: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238C5E"/>
                </a:solidFill>
                <a:latin typeface="Courier New"/>
              </a:rPr>
              <a:t>├── 📦 </a:t>
            </a:r>
            <a:r>
              <a:rPr lang="en-US" sz="1200" b="0" dirty="0">
                <a:solidFill>
                  <a:srgbClr val="238C5E"/>
                </a:solidFill>
                <a:latin typeface="Courier New"/>
              </a:rPr>
              <a:t>Domain</a:t>
            </a:r>
            <a:r>
              <a:rPr sz="1200" b="0" dirty="0">
                <a:solidFill>
                  <a:srgbClr val="238C5E"/>
                </a:solidFill>
                <a:latin typeface="Courier New"/>
              </a:rPr>
              <a:t>            ← </a:t>
            </a:r>
            <a:r>
              <a:rPr sz="1200" b="0" dirty="0" err="1">
                <a:solidFill>
                  <a:srgbClr val="238C5E"/>
                </a:solidFill>
                <a:latin typeface="Courier New"/>
              </a:rPr>
              <a:t>Entidades</a:t>
            </a:r>
            <a:r>
              <a:rPr sz="1200" b="0" dirty="0">
                <a:solidFill>
                  <a:srgbClr val="238C5E"/>
                </a:solidFill>
                <a:latin typeface="Courier New"/>
              </a:rPr>
              <a:t>, Interfaces</a:t>
            </a: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238C5E"/>
                </a:solidFill>
                <a:latin typeface="Courier New"/>
              </a:rPr>
              <a:t>│    ├── </a:t>
            </a:r>
            <a:r>
              <a:rPr lang="en-US" sz="1200" b="0" dirty="0">
                <a:solidFill>
                  <a:srgbClr val="238C5E"/>
                </a:solidFill>
                <a:latin typeface="Courier New"/>
              </a:rPr>
              <a:t>Conta</a:t>
            </a:r>
            <a:r>
              <a:rPr sz="1200" b="0" dirty="0">
                <a:solidFill>
                  <a:srgbClr val="238C5E"/>
                </a:solidFill>
                <a:latin typeface="Courier New"/>
              </a:rPr>
              <a:t>/</a:t>
            </a: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238C5E"/>
                </a:solidFill>
                <a:latin typeface="Courier New"/>
              </a:rPr>
              <a:t>│    ├── </a:t>
            </a:r>
            <a:r>
              <a:rPr sz="12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200" b="0" dirty="0">
                <a:solidFill>
                  <a:srgbClr val="238C5E"/>
                </a:solidFill>
                <a:latin typeface="Courier New"/>
              </a:rPr>
              <a:t>/</a:t>
            </a: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238C5E"/>
                </a:solidFill>
                <a:latin typeface="Courier New"/>
              </a:rPr>
              <a:t>│    └── Common/</a:t>
            </a:r>
            <a:r>
              <a:rPr sz="1200" b="0" dirty="0" err="1">
                <a:solidFill>
                  <a:srgbClr val="238C5E"/>
                </a:solidFill>
                <a:latin typeface="Courier New"/>
              </a:rPr>
              <a:t>BaseEntity</a:t>
            </a:r>
            <a:endParaRPr sz="1200" b="0" dirty="0">
              <a:solidFill>
                <a:srgbClr val="238C5E"/>
              </a:solidFill>
              <a:latin typeface="Courier New"/>
            </a:endParaRP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238C5E"/>
                </a:solidFill>
                <a:latin typeface="Courier New"/>
              </a:rPr>
              <a:t>│</a:t>
            </a: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238C5E"/>
                </a:solidFill>
                <a:latin typeface="Courier New"/>
              </a:rPr>
              <a:t>├── 📦 Application       ← Serviços, Use Cases</a:t>
            </a: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238C5E"/>
                </a:solidFill>
                <a:latin typeface="Courier New"/>
              </a:rPr>
              <a:t>│    ├── </a:t>
            </a:r>
            <a:r>
              <a:rPr lang="en-US" sz="1200" b="0" dirty="0" err="1">
                <a:solidFill>
                  <a:srgbClr val="238C5E"/>
                </a:solidFill>
                <a:latin typeface="Courier New"/>
              </a:rPr>
              <a:t>Conta</a:t>
            </a:r>
            <a:r>
              <a:rPr sz="1200" b="0" dirty="0" err="1">
                <a:solidFill>
                  <a:srgbClr val="238C5E"/>
                </a:solidFill>
                <a:latin typeface="Courier New"/>
              </a:rPr>
              <a:t>Service.cs</a:t>
            </a:r>
            <a:endParaRPr sz="1200" b="0" dirty="0">
              <a:solidFill>
                <a:srgbClr val="238C5E"/>
              </a:solidFill>
              <a:latin typeface="Courier New"/>
            </a:endParaRP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238C5E"/>
                </a:solidFill>
                <a:latin typeface="Courier New"/>
              </a:rPr>
              <a:t>│    └── </a:t>
            </a:r>
            <a:r>
              <a:rPr sz="1200" b="0" dirty="0" err="1">
                <a:solidFill>
                  <a:srgbClr val="238C5E"/>
                </a:solidFill>
                <a:latin typeface="Courier New"/>
              </a:rPr>
              <a:t>ClienteService.cs</a:t>
            </a:r>
            <a:endParaRPr sz="1200" b="0" dirty="0">
              <a:solidFill>
                <a:srgbClr val="238C5E"/>
              </a:solidFill>
              <a:latin typeface="Courier New"/>
            </a:endParaRP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238C5E"/>
                </a:solidFill>
                <a:latin typeface="Courier New"/>
              </a:rPr>
              <a:t>│</a:t>
            </a: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238C5E"/>
                </a:solidFill>
                <a:latin typeface="Courier New"/>
              </a:rPr>
              <a:t>├── 📦 Infra             ← BD, APIs </a:t>
            </a:r>
            <a:r>
              <a:rPr sz="1200" b="0" dirty="0" err="1">
                <a:solidFill>
                  <a:srgbClr val="238C5E"/>
                </a:solidFill>
                <a:latin typeface="Courier New"/>
              </a:rPr>
              <a:t>externas</a:t>
            </a:r>
            <a:endParaRPr sz="1200" b="0" dirty="0">
              <a:solidFill>
                <a:srgbClr val="238C5E"/>
              </a:solidFill>
              <a:latin typeface="Courier New"/>
            </a:endParaRP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238C5E"/>
                </a:solidFill>
                <a:latin typeface="Courier New"/>
              </a:rPr>
              <a:t>│    ├── Data/</a:t>
            </a:r>
            <a:r>
              <a:rPr lang="en-US" sz="12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200" b="0" dirty="0" err="1">
                <a:solidFill>
                  <a:srgbClr val="238C5E"/>
                </a:solidFill>
                <a:latin typeface="Courier New"/>
              </a:rPr>
              <a:t>DbContext</a:t>
            </a:r>
            <a:endParaRPr sz="1200" b="0" dirty="0">
              <a:solidFill>
                <a:srgbClr val="238C5E"/>
              </a:solidFill>
              <a:latin typeface="Courier New"/>
            </a:endParaRP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238C5E"/>
                </a:solidFill>
                <a:latin typeface="Courier New"/>
              </a:rPr>
              <a:t>│    └── Repository/</a:t>
            </a: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238C5E"/>
                </a:solidFill>
                <a:latin typeface="Courier New"/>
              </a:rPr>
              <a:t>│</a:t>
            </a: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238C5E"/>
                </a:solidFill>
                <a:latin typeface="Courier New"/>
              </a:rPr>
              <a:t>└── 📦 </a:t>
            </a:r>
            <a:r>
              <a:rPr lang="en-US" sz="1200" b="0" dirty="0" err="1">
                <a:solidFill>
                  <a:srgbClr val="238C5E"/>
                </a:solidFill>
                <a:latin typeface="Courier New"/>
              </a:rPr>
              <a:t>Credisis</a:t>
            </a:r>
            <a:r>
              <a:rPr sz="1200" b="0" dirty="0" err="1">
                <a:solidFill>
                  <a:srgbClr val="238C5E"/>
                </a:solidFill>
                <a:latin typeface="Courier New"/>
              </a:rPr>
              <a:t>.Core</a:t>
            </a:r>
            <a:r>
              <a:rPr sz="1200" b="0" dirty="0">
                <a:solidFill>
                  <a:srgbClr val="238C5E"/>
                </a:solidFill>
                <a:latin typeface="Courier New"/>
              </a:rPr>
              <a:t>              ← API HTTP (Controllers)</a:t>
            </a: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238C5E"/>
                </a:solidFill>
                <a:latin typeface="Courier New"/>
              </a:rPr>
              <a:t>     ├── Controllers/</a:t>
            </a: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238C5E"/>
                </a:solidFill>
                <a:latin typeface="Courier New"/>
              </a:rPr>
              <a:t>     └── Contracts/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000" y="9200000"/>
            <a:ext cx="59075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AC9"/>
                </a:solidFill>
                <a:latin typeface="Lato"/>
              </a:rPr>
              <a:t>💡 Cada projeto = uma DLL separada com responsabilidade própria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667500" cy="1600000"/>
          </a:xfrm>
          <a:prstGeom prst="rect">
            <a:avLst/>
          </a:prstGeom>
          <a:solidFill>
            <a:srgbClr val="00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0000" y="150000"/>
            <a:ext cx="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107"/>
                </a:solidFill>
                <a:latin typeface="Lat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50000"/>
            <a:ext cx="56075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Lato"/>
              </a:rPr>
              <a:t>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1050000"/>
            <a:ext cx="59075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Lato"/>
              </a:rPr>
              <a:t>C#/.NET na Prática — Aula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1750000"/>
            <a:ext cx="59075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AC9"/>
                </a:solidFill>
                <a:latin typeface="Lato"/>
              </a:rPr>
              <a:t>A regra de ouro:</a:t>
            </a:r>
          </a:p>
        </p:txBody>
      </p:sp>
      <p:sp>
        <p:nvSpPr>
          <p:cNvPr id="8" name="Rectangle 7"/>
          <p:cNvSpPr/>
          <p:nvPr/>
        </p:nvSpPr>
        <p:spPr>
          <a:xfrm>
            <a:off x="380000" y="2250000"/>
            <a:ext cx="5907500" cy="700000"/>
          </a:xfrm>
          <a:prstGeom prst="rect">
            <a:avLst/>
          </a:prstGeom>
          <a:solidFill>
            <a:srgbClr val="00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0000" y="2350000"/>
            <a:ext cx="59075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⬅  Dependências sempre apontam para o centro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0000" y="3100000"/>
            <a:ext cx="5907500" cy="50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0000" y="3230000"/>
            <a:ext cx="59075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Lato"/>
              </a:rPr>
              <a:t>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0000" y="3650000"/>
            <a:ext cx="5647500" cy="500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0000" y="3780000"/>
            <a:ext cx="56475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Lato"/>
              </a:rPr>
              <a:t>APPLICATION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00" y="4200000"/>
            <a:ext cx="5387500" cy="50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00" y="4330000"/>
            <a:ext cx="53875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Lato"/>
              </a:rPr>
              <a:t>INFRA /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000" y="4900000"/>
            <a:ext cx="59075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Lato"/>
              </a:rPr>
              <a:t>✅  Domain não conhece Application, Infra ou API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33333"/>
                </a:solidFill>
                <a:latin typeface="Lato"/>
              </a:rPr>
              <a:t>✅  Application conhece apenas Domain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33333"/>
                </a:solidFill>
                <a:latin typeface="Lato"/>
              </a:rPr>
              <a:t>✅  Infra e API são detalhes — podem mudar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33333"/>
                </a:solidFill>
                <a:latin typeface="Lato"/>
              </a:rPr>
              <a:t>✅  Fácil de testar cada camada em isolamento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33333"/>
                </a:solidFill>
                <a:latin typeface="Lato"/>
              </a:rPr>
              <a:t>✅  Regras de negócio protegidas de frameworks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667500" cy="1600000"/>
          </a:xfrm>
          <a:prstGeom prst="rect">
            <a:avLst/>
          </a:prstGeom>
          <a:solidFill>
            <a:srgbClr val="00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0000" y="150000"/>
            <a:ext cx="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C107"/>
                </a:solidFill>
                <a:latin typeface="Lato"/>
              </a:rPr>
              <a:t>04a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50000"/>
            <a:ext cx="56075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Lato"/>
              </a:rPr>
              <a:t>Camada: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1050000"/>
            <a:ext cx="59075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Lato"/>
              </a:rPr>
              <a:t>C#/.NET na Prática — Aula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1750000"/>
            <a:ext cx="59075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Lato"/>
              </a:rPr>
              <a:t>O coração do sistema — zero dependências externas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0000" y="2300000"/>
            <a:ext cx="5907500" cy="4000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000" y="2450000"/>
            <a:ext cx="5607500" cy="2280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238C5E"/>
                </a:solidFill>
                <a:latin typeface="Courier New"/>
              </a:rPr>
              <a:t>// </a:t>
            </a:r>
            <a:r>
              <a:rPr lang="en-US" sz="1100" dirty="0" err="1">
                <a:solidFill>
                  <a:srgbClr val="238C5E"/>
                </a:solidFill>
                <a:latin typeface="Courier New"/>
              </a:rPr>
              <a:t>Credisis.Cliente.Domain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/Common/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BaseEntity.cs</a:t>
            </a:r>
            <a:endParaRPr sz="1100" b="0" dirty="0">
              <a:solidFill>
                <a:srgbClr val="238C5E"/>
              </a:solidFill>
              <a:latin typeface="Courier New"/>
            </a:endParaRP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public abstract class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BaseEntity</a:t>
            </a:r>
            <a:endParaRPr sz="1100" b="0" dirty="0">
              <a:solidFill>
                <a:srgbClr val="238C5E"/>
              </a:solidFill>
              <a:latin typeface="Courier New"/>
            </a:endParaRP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{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public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Guid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Id { get; protected set; }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public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DateTime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CriadoEm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{ get; protected set; }</a:t>
            </a:r>
          </a:p>
          <a:p>
            <a:pPr algn="l">
              <a:spcBef>
                <a:spcPts val="100"/>
              </a:spcBef>
            </a:pPr>
            <a:endParaRPr sz="1100" b="0" dirty="0">
              <a:solidFill>
                <a:srgbClr val="238C5E"/>
              </a:solidFill>
              <a:latin typeface="Courier New"/>
            </a:endParaRP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protected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BaseEntity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()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{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    Id =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Guid.NewGuid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();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   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CriadoEm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=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DateTime.UtcNow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;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}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000" y="6450000"/>
            <a:ext cx="5907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006AC9"/>
                </a:solidFill>
                <a:latin typeface="Lato"/>
              </a:rPr>
              <a:t>📌  </a:t>
            </a:r>
            <a:r>
              <a:rPr sz="1300" b="1" dirty="0" err="1">
                <a:solidFill>
                  <a:srgbClr val="006AC9"/>
                </a:solidFill>
                <a:latin typeface="Lato"/>
              </a:rPr>
              <a:t>Entidades</a:t>
            </a:r>
            <a:r>
              <a:rPr sz="1300" b="1" dirty="0">
                <a:solidFill>
                  <a:srgbClr val="006AC9"/>
                </a:solidFill>
                <a:latin typeface="Lato"/>
              </a:rPr>
              <a:t>  →  </a:t>
            </a:r>
            <a:r>
              <a:rPr lang="en-US" sz="1300" b="1" dirty="0">
                <a:solidFill>
                  <a:srgbClr val="006AC9"/>
                </a:solidFill>
                <a:latin typeface="Lato"/>
              </a:rPr>
              <a:t>Conta</a:t>
            </a:r>
            <a:r>
              <a:rPr sz="1300" b="1" dirty="0">
                <a:solidFill>
                  <a:srgbClr val="006AC9"/>
                </a:solidFill>
                <a:latin typeface="Lato"/>
              </a:rPr>
              <a:t>, </a:t>
            </a:r>
            <a:r>
              <a:rPr sz="1300" b="1" dirty="0" err="1">
                <a:solidFill>
                  <a:srgbClr val="006AC9"/>
                </a:solidFill>
                <a:latin typeface="Lato"/>
              </a:rPr>
              <a:t>Cliente</a:t>
            </a:r>
            <a:r>
              <a:rPr sz="1300" b="1" dirty="0">
                <a:solidFill>
                  <a:srgbClr val="006AC9"/>
                </a:solidFill>
                <a:latin typeface="Lato"/>
              </a:rPr>
              <a:t>, </a:t>
            </a:r>
            <a:r>
              <a:rPr lang="en-US" sz="1300" b="1" dirty="0" err="1">
                <a:solidFill>
                  <a:srgbClr val="006AC9"/>
                </a:solidFill>
                <a:latin typeface="Lato"/>
              </a:rPr>
              <a:t>Endereco</a:t>
            </a:r>
            <a:r>
              <a:rPr lang="en-US" sz="1300" b="1" dirty="0">
                <a:solidFill>
                  <a:srgbClr val="006AC9"/>
                </a:solidFill>
                <a:latin typeface="Lato"/>
              </a:rPr>
              <a:t>….</a:t>
            </a:r>
            <a:endParaRPr sz="1300" b="1" dirty="0">
              <a:solidFill>
                <a:srgbClr val="006AC9"/>
              </a:solidFill>
              <a:latin typeface="Lato"/>
            </a:endParaRPr>
          </a:p>
          <a:p>
            <a:pPr algn="l">
              <a:spcBef>
                <a:spcPts val="800"/>
              </a:spcBef>
            </a:pPr>
            <a:r>
              <a:rPr sz="1300" b="0" dirty="0">
                <a:solidFill>
                  <a:srgbClr val="333333"/>
                </a:solidFill>
                <a:latin typeface="Lato"/>
              </a:rPr>
              <a:t>📌  Interfaces →  </a:t>
            </a:r>
            <a:r>
              <a:rPr sz="1300" b="0" dirty="0" err="1">
                <a:solidFill>
                  <a:srgbClr val="333333"/>
                </a:solidFill>
                <a:latin typeface="Lato"/>
              </a:rPr>
              <a:t>I</a:t>
            </a:r>
            <a:r>
              <a:rPr lang="en-US" sz="1300" b="0" dirty="0" err="1">
                <a:solidFill>
                  <a:srgbClr val="333333"/>
                </a:solidFill>
                <a:latin typeface="Lato"/>
              </a:rPr>
              <a:t>Cliente</a:t>
            </a:r>
            <a:r>
              <a:rPr sz="1300" b="0" dirty="0" err="1">
                <a:solidFill>
                  <a:srgbClr val="333333"/>
                </a:solidFill>
                <a:latin typeface="Lato"/>
              </a:rPr>
              <a:t>Repository</a:t>
            </a:r>
            <a:r>
              <a:rPr sz="1300" b="0" dirty="0">
                <a:solidFill>
                  <a:srgbClr val="333333"/>
                </a:solidFill>
                <a:latin typeface="Lato"/>
              </a:rPr>
              <a:t> (</a:t>
            </a:r>
            <a:r>
              <a:rPr sz="1300" b="0" dirty="0" err="1">
                <a:solidFill>
                  <a:srgbClr val="333333"/>
                </a:solidFill>
                <a:latin typeface="Lato"/>
              </a:rPr>
              <a:t>contrato</a:t>
            </a:r>
            <a:r>
              <a:rPr sz="1300" b="0" dirty="0">
                <a:solidFill>
                  <a:srgbClr val="333333"/>
                </a:solidFill>
                <a:latin typeface="Lato"/>
              </a:rPr>
              <a:t>)</a:t>
            </a:r>
          </a:p>
          <a:p>
            <a:pPr algn="l">
              <a:spcBef>
                <a:spcPts val="800"/>
              </a:spcBef>
            </a:pPr>
            <a:r>
              <a:rPr sz="1300" b="0" dirty="0">
                <a:solidFill>
                  <a:srgbClr val="333333"/>
                </a:solidFill>
                <a:latin typeface="Lato"/>
              </a:rPr>
              <a:t>📌  </a:t>
            </a:r>
            <a:r>
              <a:rPr sz="1300" b="0" dirty="0" err="1">
                <a:solidFill>
                  <a:srgbClr val="333333"/>
                </a:solidFill>
                <a:latin typeface="Lato"/>
              </a:rPr>
              <a:t>Exceções</a:t>
            </a:r>
            <a:r>
              <a:rPr sz="1300" b="0" dirty="0">
                <a:solidFill>
                  <a:srgbClr val="333333"/>
                </a:solidFill>
                <a:latin typeface="Lato"/>
              </a:rPr>
              <a:t>   →  </a:t>
            </a:r>
            <a:r>
              <a:rPr sz="1300" b="0" dirty="0" err="1">
                <a:solidFill>
                  <a:srgbClr val="333333"/>
                </a:solidFill>
                <a:latin typeface="Lato"/>
              </a:rPr>
              <a:t>DomainException</a:t>
            </a:r>
            <a:r>
              <a:rPr sz="1300" b="0" dirty="0">
                <a:solidFill>
                  <a:srgbClr val="333333"/>
                </a:solidFill>
                <a:latin typeface="Lato"/>
              </a:rPr>
              <a:t> (</a:t>
            </a:r>
            <a:r>
              <a:rPr sz="1300" b="0" dirty="0" err="1">
                <a:solidFill>
                  <a:srgbClr val="333333"/>
                </a:solidFill>
                <a:latin typeface="Lato"/>
              </a:rPr>
              <a:t>regras</a:t>
            </a:r>
            <a:r>
              <a:rPr sz="1300" b="0" dirty="0">
                <a:solidFill>
                  <a:srgbClr val="333333"/>
                </a:solidFill>
                <a:latin typeface="Lato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Lato"/>
              </a:rPr>
              <a:t>violadas</a:t>
            </a:r>
            <a:r>
              <a:rPr sz="1300" b="0" dirty="0">
                <a:solidFill>
                  <a:srgbClr val="333333"/>
                </a:solidFill>
                <a:latin typeface="Lato"/>
              </a:rPr>
              <a:t>)</a:t>
            </a:r>
          </a:p>
          <a:p>
            <a:pPr algn="l">
              <a:spcBef>
                <a:spcPts val="800"/>
              </a:spcBef>
            </a:pPr>
            <a:r>
              <a:rPr sz="1300" b="0" dirty="0">
                <a:solidFill>
                  <a:srgbClr val="333333"/>
                </a:solidFill>
                <a:latin typeface="Lato"/>
              </a:rPr>
              <a:t>📌  Enums      →  </a:t>
            </a:r>
            <a:r>
              <a:rPr lang="en-US" sz="1300" b="0" dirty="0" err="1">
                <a:solidFill>
                  <a:srgbClr val="333333"/>
                </a:solidFill>
                <a:latin typeface="Lato"/>
              </a:rPr>
              <a:t>Cliente</a:t>
            </a:r>
            <a:r>
              <a:rPr sz="1300" b="0" dirty="0" err="1">
                <a:solidFill>
                  <a:srgbClr val="333333"/>
                </a:solidFill>
                <a:latin typeface="Lato"/>
              </a:rPr>
              <a:t>Status</a:t>
            </a:r>
            <a:r>
              <a:rPr sz="1300" b="0" dirty="0">
                <a:solidFill>
                  <a:srgbClr val="333333"/>
                </a:solidFill>
                <a:latin typeface="Lato"/>
              </a:rPr>
              <a:t>, </a:t>
            </a:r>
            <a:r>
              <a:rPr sz="1300" b="0" dirty="0" err="1">
                <a:solidFill>
                  <a:srgbClr val="333333"/>
                </a:solidFill>
                <a:latin typeface="Lato"/>
              </a:rPr>
              <a:t>Tipo</a:t>
            </a:r>
            <a:r>
              <a:rPr lang="en-US" sz="1300" b="0" dirty="0" err="1">
                <a:solidFill>
                  <a:srgbClr val="333333"/>
                </a:solidFill>
                <a:latin typeface="Lato"/>
              </a:rPr>
              <a:t>Cliente</a:t>
            </a:r>
            <a:endParaRPr sz="1300" b="0" dirty="0">
              <a:solidFill>
                <a:srgbClr val="333333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667500" cy="1600000"/>
          </a:xfrm>
          <a:prstGeom prst="rect">
            <a:avLst/>
          </a:prstGeom>
          <a:solidFill>
            <a:srgbClr val="00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0000" y="150000"/>
            <a:ext cx="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C107"/>
                </a:solidFill>
                <a:latin typeface="Lato"/>
              </a:rPr>
              <a:t>04b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50000"/>
            <a:ext cx="56075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Lato"/>
              </a:rPr>
              <a:t>Camada: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1050000"/>
            <a:ext cx="59075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Lato"/>
              </a:rPr>
              <a:t>C#/.NET na Prática — Aula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1750000"/>
            <a:ext cx="59075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Lato"/>
              </a:rPr>
              <a:t>Orquestra as regras — conhece Domain, não conhece BD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0000" y="2300000"/>
            <a:ext cx="5907500" cy="4200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000" y="2450000"/>
            <a:ext cx="56075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238C5E"/>
                </a:solidFill>
                <a:latin typeface="Courier New"/>
              </a:rPr>
              <a:t>// </a:t>
            </a:r>
            <a:r>
              <a:rPr lang="en-US" sz="1100" dirty="0" err="1">
                <a:solidFill>
                  <a:srgbClr val="238C5E"/>
                </a:solidFill>
                <a:latin typeface="Courier New"/>
              </a:rPr>
              <a:t>Credisis.Cliente.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Application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/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/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Service.cs</a:t>
            </a:r>
            <a:endParaRPr sz="1100" b="0" dirty="0">
              <a:solidFill>
                <a:srgbClr val="238C5E"/>
              </a:solidFill>
              <a:latin typeface="Courier New"/>
            </a:endParaRP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public class 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Service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: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I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Service</a:t>
            </a:r>
            <a:endParaRPr sz="1100" b="0" dirty="0">
              <a:solidFill>
                <a:srgbClr val="238C5E"/>
              </a:solidFill>
              <a:latin typeface="Courier New"/>
            </a:endParaRP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{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private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readonly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I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Repository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_repo;</a:t>
            </a:r>
          </a:p>
          <a:p>
            <a:pPr algn="l">
              <a:spcBef>
                <a:spcPts val="100"/>
              </a:spcBef>
            </a:pPr>
            <a:endParaRPr sz="1100" b="0" dirty="0">
              <a:solidFill>
                <a:srgbClr val="238C5E"/>
              </a:solidFill>
              <a:latin typeface="Courier New"/>
            </a:endParaRP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public async Task&lt;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&gt;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CriarAsync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(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   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Criar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Command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cmd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)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{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    var 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= new 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(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cmd.ClienteId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,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cmd.Itens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);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    await _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repo.AdicionarAsync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(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);</a:t>
            </a:r>
          </a:p>
          <a:p>
            <a:pPr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    return </a:t>
            </a:r>
            <a:r>
              <a:rPr lang="en-US" sz="110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;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}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000" y="6700000"/>
            <a:ext cx="59075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AC9"/>
                </a:solidFill>
                <a:latin typeface="Lato"/>
              </a:rPr>
              <a:t>📌  Recebe Commands/DTOs (dados da requisição)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33333"/>
                </a:solidFill>
                <a:latin typeface="Lato"/>
              </a:rPr>
              <a:t>📌  Invoca lógica do Domain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33333"/>
                </a:solidFill>
                <a:latin typeface="Lato"/>
              </a:rPr>
              <a:t>📌  Persiste via Interface (não implementação)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33333"/>
                </a:solidFill>
                <a:latin typeface="Lato"/>
              </a:rPr>
              <a:t>📌  Lança exceções de negócio (ApplicationException)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667500" cy="1600000"/>
          </a:xfrm>
          <a:prstGeom prst="rect">
            <a:avLst/>
          </a:prstGeom>
          <a:solidFill>
            <a:srgbClr val="00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0000" y="150000"/>
            <a:ext cx="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C107"/>
                </a:solidFill>
                <a:latin typeface="Lato"/>
              </a:rPr>
              <a:t>04c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50000"/>
            <a:ext cx="56075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Lato"/>
              </a:rPr>
              <a:t>Camada: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1050000"/>
            <a:ext cx="59075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Lato"/>
              </a:rPr>
              <a:t>C#/.NET na Prática — Aula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1750000"/>
            <a:ext cx="59075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Lato"/>
              </a:rPr>
              <a:t>Detalhes técnicos — implementa o que o Domain define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0000" y="2300000"/>
            <a:ext cx="5907500" cy="4500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000" y="2450000"/>
            <a:ext cx="5607500" cy="2628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238C5E"/>
                </a:solidFill>
                <a:latin typeface="Courier New"/>
              </a:rPr>
              <a:t>// </a:t>
            </a:r>
            <a:r>
              <a:rPr lang="en-US" sz="1100" dirty="0" err="1">
                <a:solidFill>
                  <a:srgbClr val="238C5E"/>
                </a:solidFill>
                <a:latin typeface="Courier New"/>
              </a:rPr>
              <a:t>Credisis.Cliente.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Infra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/Data/Repository/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Repository.cs</a:t>
            </a:r>
            <a:endParaRPr sz="1100" b="0" dirty="0">
              <a:solidFill>
                <a:srgbClr val="238C5E"/>
              </a:solidFill>
              <a:latin typeface="Courier New"/>
            </a:endParaRP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public class 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Repository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: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I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Repository</a:t>
            </a:r>
            <a:endParaRPr sz="1100" b="0" dirty="0">
              <a:solidFill>
                <a:srgbClr val="238C5E"/>
              </a:solidFill>
              <a:latin typeface="Courier New"/>
            </a:endParaRP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{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private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readonly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DbContext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_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ctx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;</a:t>
            </a:r>
          </a:p>
          <a:p>
            <a:pPr algn="l">
              <a:spcBef>
                <a:spcPts val="100"/>
              </a:spcBef>
            </a:pPr>
            <a:endParaRPr sz="1100" b="0" dirty="0">
              <a:solidFill>
                <a:srgbClr val="238C5E"/>
              </a:solidFill>
              <a:latin typeface="Courier New"/>
            </a:endParaRP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public async Task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AdicionarAsync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(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Pedido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p)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{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    await _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ctx.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.AddAsync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(p);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    await _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ctx.SaveChangesAsync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();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}</a:t>
            </a:r>
          </a:p>
          <a:p>
            <a:pPr algn="l">
              <a:spcBef>
                <a:spcPts val="100"/>
              </a:spcBef>
            </a:pPr>
            <a:endParaRPr sz="1100" b="0" dirty="0">
              <a:solidFill>
                <a:srgbClr val="238C5E"/>
              </a:solidFill>
              <a:latin typeface="Courier New"/>
            </a:endParaRP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public async Task&lt;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?&gt;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BuscarAsync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(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Guid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id)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    =&gt; await _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ctx.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.FindAsync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(id);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000" y="7000000"/>
            <a:ext cx="5907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006AC9"/>
                </a:solidFill>
                <a:latin typeface="Lato"/>
              </a:rPr>
              <a:t>📌  </a:t>
            </a:r>
            <a:r>
              <a:rPr lang="en-US" sz="1300" b="1" dirty="0" err="1">
                <a:solidFill>
                  <a:srgbClr val="006AC9"/>
                </a:solidFill>
                <a:latin typeface="Lato"/>
              </a:rPr>
              <a:t>ClienteDbContext</a:t>
            </a:r>
            <a:r>
              <a:rPr lang="en-US" sz="1300" b="1" dirty="0">
                <a:solidFill>
                  <a:srgbClr val="006AC9"/>
                </a:solidFill>
                <a:latin typeface="Lato"/>
              </a:rPr>
              <a:t>   →  Entity Framework Core (SQL Server)</a:t>
            </a:r>
          </a:p>
          <a:p>
            <a:pPr algn="l">
              <a:spcBef>
                <a:spcPts val="800"/>
              </a:spcBef>
            </a:pPr>
            <a:r>
              <a:rPr lang="en-BS" sz="1300" b="0" dirty="0">
                <a:solidFill>
                  <a:srgbClr val="333333"/>
                </a:solidFill>
                <a:latin typeface="Lato"/>
              </a:rPr>
              <a:t>📌  </a:t>
            </a:r>
            <a:r>
              <a:rPr lang="en-US" sz="1300" b="0" dirty="0">
                <a:solidFill>
                  <a:srgbClr val="333333"/>
                </a:solidFill>
                <a:latin typeface="Lato"/>
              </a:rPr>
              <a:t>Migrations    →  </a:t>
            </a:r>
            <a:r>
              <a:rPr lang="en-US" sz="1300" b="0" dirty="0" err="1">
                <a:solidFill>
                  <a:srgbClr val="333333"/>
                </a:solidFill>
                <a:latin typeface="Lato"/>
              </a:rPr>
              <a:t>versionamento</a:t>
            </a:r>
            <a:r>
              <a:rPr lang="en-US" sz="1300" b="0" dirty="0">
                <a:solidFill>
                  <a:srgbClr val="333333"/>
                </a:solidFill>
                <a:latin typeface="Lato"/>
              </a:rPr>
              <a:t> do schema do BD</a:t>
            </a:r>
          </a:p>
          <a:p>
            <a:pPr algn="l">
              <a:spcBef>
                <a:spcPts val="800"/>
              </a:spcBef>
            </a:pPr>
            <a:r>
              <a:rPr sz="1300" b="0" dirty="0">
                <a:solidFill>
                  <a:srgbClr val="333333"/>
                </a:solidFill>
                <a:latin typeface="Lato"/>
              </a:rPr>
              <a:t>📌  Serviços </a:t>
            </a:r>
            <a:r>
              <a:rPr sz="1300" b="0" dirty="0" err="1">
                <a:solidFill>
                  <a:srgbClr val="333333"/>
                </a:solidFill>
                <a:latin typeface="Lato"/>
              </a:rPr>
              <a:t>ext</a:t>
            </a:r>
            <a:r>
              <a:rPr sz="1300" b="0" dirty="0">
                <a:solidFill>
                  <a:srgbClr val="333333"/>
                </a:solidFill>
                <a:latin typeface="Lato"/>
              </a:rPr>
              <a:t>  →  </a:t>
            </a:r>
            <a:r>
              <a:rPr lang="en-US" sz="1300" b="0" dirty="0">
                <a:solidFill>
                  <a:srgbClr val="333333"/>
                </a:solidFill>
                <a:latin typeface="Lato"/>
              </a:rPr>
              <a:t>ERP, JD…..</a:t>
            </a:r>
            <a:endParaRPr sz="1300" b="0" dirty="0">
              <a:solidFill>
                <a:srgbClr val="333333"/>
              </a:solidFill>
              <a:latin typeface="Lato"/>
            </a:endParaRPr>
          </a:p>
          <a:p>
            <a:pPr algn="l">
              <a:spcBef>
                <a:spcPts val="800"/>
              </a:spcBef>
            </a:pPr>
            <a:r>
              <a:rPr sz="1300" b="0" dirty="0">
                <a:solidFill>
                  <a:srgbClr val="333333"/>
                </a:solidFill>
                <a:latin typeface="Lato"/>
              </a:rPr>
              <a:t>📌  </a:t>
            </a:r>
            <a:r>
              <a:rPr sz="1300" b="0" dirty="0" err="1">
                <a:solidFill>
                  <a:srgbClr val="333333"/>
                </a:solidFill>
                <a:latin typeface="Lato"/>
              </a:rPr>
              <a:t>Registrado</a:t>
            </a:r>
            <a:r>
              <a:rPr sz="1300" b="0" dirty="0">
                <a:solidFill>
                  <a:srgbClr val="333333"/>
                </a:solidFill>
                <a:latin typeface="Lato"/>
              </a:rPr>
              <a:t> no DI </a:t>
            </a:r>
            <a:r>
              <a:rPr sz="1300" b="0" dirty="0" err="1">
                <a:solidFill>
                  <a:srgbClr val="333333"/>
                </a:solidFill>
                <a:latin typeface="Lato"/>
              </a:rPr>
              <a:t>como</a:t>
            </a:r>
            <a:r>
              <a:rPr sz="1300" b="0" dirty="0">
                <a:solidFill>
                  <a:srgbClr val="333333"/>
                </a:solidFill>
                <a:latin typeface="Lato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Lato"/>
              </a:rPr>
              <a:t>implementação</a:t>
            </a:r>
            <a:r>
              <a:rPr sz="1300" b="0" dirty="0">
                <a:solidFill>
                  <a:srgbClr val="333333"/>
                </a:solidFill>
                <a:latin typeface="Lato"/>
              </a:rPr>
              <a:t> da interface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667500" cy="1600000"/>
          </a:xfrm>
          <a:prstGeom prst="rect">
            <a:avLst/>
          </a:prstGeom>
          <a:solidFill>
            <a:srgbClr val="00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0000" y="150000"/>
            <a:ext cx="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C107"/>
                </a:solidFill>
                <a:latin typeface="Lato"/>
              </a:rPr>
              <a:t>04d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50000"/>
            <a:ext cx="5607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Lato"/>
              </a:rPr>
              <a:t>Camada</a:t>
            </a:r>
            <a:r>
              <a:rPr sz="2400" b="1" dirty="0">
                <a:solidFill>
                  <a:srgbClr val="FFFFFF"/>
                </a:solidFill>
                <a:latin typeface="Lato"/>
              </a:rPr>
              <a:t>: API (</a:t>
            </a:r>
            <a:r>
              <a:rPr lang="en-US" sz="2400" b="1" dirty="0" err="1">
                <a:solidFill>
                  <a:srgbClr val="FFFFFF"/>
                </a:solidFill>
                <a:latin typeface="Lato"/>
              </a:rPr>
              <a:t>Credisis</a:t>
            </a:r>
            <a:r>
              <a:rPr sz="2400" b="1" dirty="0" err="1">
                <a:solidFill>
                  <a:srgbClr val="FFFFFF"/>
                </a:solidFill>
                <a:latin typeface="Lato"/>
              </a:rPr>
              <a:t>.Core</a:t>
            </a:r>
            <a:r>
              <a:rPr sz="2400" b="1" dirty="0">
                <a:solidFill>
                  <a:srgbClr val="FFFFFF"/>
                </a:solidFill>
                <a:latin typeface="Lato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1050000"/>
            <a:ext cx="59075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Lato"/>
              </a:rPr>
              <a:t>C#/.NET na Prática — Aula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1750000"/>
            <a:ext cx="59075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Lato"/>
              </a:rPr>
              <a:t>Porta de entrada — expõe o sistema via HTTP</a:t>
            </a:r>
          </a:p>
        </p:txBody>
      </p:sp>
      <p:sp>
        <p:nvSpPr>
          <p:cNvPr id="8" name="Rectangle 7"/>
          <p:cNvSpPr/>
          <p:nvPr/>
        </p:nvSpPr>
        <p:spPr>
          <a:xfrm>
            <a:off x="380000" y="2300000"/>
            <a:ext cx="5907500" cy="4700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000" y="2450000"/>
            <a:ext cx="5607500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238C5E"/>
                </a:solidFill>
                <a:latin typeface="Courier New"/>
              </a:rPr>
              <a:t>// </a:t>
            </a:r>
            <a:r>
              <a:rPr lang="en-US" sz="1100" dirty="0" err="1">
                <a:solidFill>
                  <a:srgbClr val="238C5E"/>
                </a:solidFill>
                <a:latin typeface="Courier New"/>
              </a:rPr>
              <a:t>Credisis.Cliente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.Core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/Controllers/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Controller.cs</a:t>
            </a:r>
            <a:endParaRPr sz="1100" b="0" dirty="0">
              <a:solidFill>
                <a:srgbClr val="238C5E"/>
              </a:solidFill>
              <a:latin typeface="Courier New"/>
            </a:endParaRP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[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ApiController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]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[Route("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api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/</a:t>
            </a:r>
            <a:r>
              <a:rPr lang="en-US" sz="1100" dirty="0" err="1">
                <a:solidFill>
                  <a:srgbClr val="238C5E"/>
                </a:solidFill>
                <a:latin typeface="Courier New"/>
              </a:rPr>
              <a:t>clientes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")]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public class 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Controller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: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ControllerBase</a:t>
            </a:r>
            <a:endParaRPr sz="1100" b="0" dirty="0">
              <a:solidFill>
                <a:srgbClr val="238C5E"/>
              </a:solidFill>
              <a:latin typeface="Courier New"/>
            </a:endParaRP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{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private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readonly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I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Service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_svc;</a:t>
            </a:r>
          </a:p>
          <a:p>
            <a:pPr algn="l">
              <a:spcBef>
                <a:spcPts val="100"/>
              </a:spcBef>
            </a:pPr>
            <a:endParaRPr sz="1100" b="0" dirty="0">
              <a:solidFill>
                <a:srgbClr val="238C5E"/>
              </a:solidFill>
              <a:latin typeface="Courier New"/>
            </a:endParaRP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[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HttpPost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]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public async Task&lt;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IActionResult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&gt;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Criar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(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    [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FromBody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]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Criar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Request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req)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{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    var 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 = await _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svc.CriarAsync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(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req.ToCommand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());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    return 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CreatedAtAction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(..., </a:t>
            </a:r>
            <a:r>
              <a:rPr lang="en-US" sz="1100" b="0" dirty="0" err="1">
                <a:solidFill>
                  <a:srgbClr val="238C5E"/>
                </a:solidFill>
                <a:latin typeface="Courier New"/>
              </a:rPr>
              <a:t>cliente</a:t>
            </a:r>
            <a:r>
              <a:rPr sz="1100" b="0" dirty="0" err="1">
                <a:solidFill>
                  <a:srgbClr val="238C5E"/>
                </a:solidFill>
                <a:latin typeface="Courier New"/>
              </a:rPr>
              <a:t>.Id</a:t>
            </a:r>
            <a:r>
              <a:rPr sz="1100" b="0" dirty="0">
                <a:solidFill>
                  <a:srgbClr val="238C5E"/>
                </a:solidFill>
                <a:latin typeface="Courier New"/>
              </a:rPr>
              <a:t>, null);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    }</a:t>
            </a:r>
          </a:p>
          <a:p>
            <a:pPr algn="l">
              <a:spcBef>
                <a:spcPts val="100"/>
              </a:spcBef>
            </a:pPr>
            <a:r>
              <a:rPr sz="1100" b="0" dirty="0">
                <a:solidFill>
                  <a:srgbClr val="238C5E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000" y="7200000"/>
            <a:ext cx="59075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AC9"/>
                </a:solidFill>
                <a:latin typeface="Lato"/>
              </a:rPr>
              <a:t>📌  Controller  →  recebe HTTP, chama Service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33333"/>
                </a:solidFill>
                <a:latin typeface="Lato"/>
              </a:rPr>
              <a:t>📌  Contracts   →  Request/Response (não expõe Domain)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33333"/>
                </a:solidFill>
                <a:latin typeface="Lato"/>
              </a:rPr>
              <a:t>📌  Middleware  →  auth, tratamento de erros, logs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333333"/>
                </a:solidFill>
                <a:latin typeface="Lato"/>
              </a:rPr>
              <a:t>📌  DI          →  tudo injetado via construtor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667500" cy="1600000"/>
          </a:xfrm>
          <a:prstGeom prst="rect">
            <a:avLst/>
          </a:prstGeom>
          <a:solidFill>
            <a:srgbClr val="00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0000" y="150000"/>
            <a:ext cx="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107"/>
                </a:solidFill>
                <a:latin typeface="Lat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50000"/>
            <a:ext cx="56075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Lato"/>
              </a:rPr>
              <a:t>Fluxo de uma Requisição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1050000"/>
            <a:ext cx="59075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Lato"/>
              </a:rPr>
              <a:t>C#/.NET na Prática — Aula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1750000"/>
            <a:ext cx="5907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333333"/>
                </a:solidFill>
                <a:latin typeface="Lato"/>
              </a:rPr>
              <a:t>POST /</a:t>
            </a:r>
            <a:r>
              <a:rPr sz="1400" b="1" dirty="0" err="1">
                <a:solidFill>
                  <a:srgbClr val="333333"/>
                </a:solidFill>
                <a:latin typeface="Lato"/>
              </a:rPr>
              <a:t>api</a:t>
            </a:r>
            <a:r>
              <a:rPr sz="1400" b="1" dirty="0">
                <a:solidFill>
                  <a:srgbClr val="333333"/>
                </a:solidFill>
                <a:latin typeface="Lato"/>
              </a:rPr>
              <a:t>/</a:t>
            </a:r>
            <a:r>
              <a:rPr lang="en-US" sz="1400" b="1" dirty="0" err="1">
                <a:solidFill>
                  <a:srgbClr val="333333"/>
                </a:solidFill>
                <a:latin typeface="Lato"/>
              </a:rPr>
              <a:t>clientes</a:t>
            </a:r>
            <a:r>
              <a:rPr sz="1400" b="1" dirty="0">
                <a:solidFill>
                  <a:srgbClr val="333333"/>
                </a:solidFill>
                <a:latin typeface="Lato"/>
              </a:rPr>
              <a:t> </a:t>
            </a:r>
            <a:r>
              <a:rPr lang="en-BS" sz="1400" b="1" dirty="0">
                <a:solidFill>
                  <a:srgbClr val="333333"/>
                </a:solidFill>
                <a:latin typeface="Lato"/>
              </a:rPr>
              <a:t> </a:t>
            </a:r>
            <a:r>
              <a:rPr sz="1400" b="1" dirty="0">
                <a:solidFill>
                  <a:srgbClr val="333333"/>
                </a:solidFill>
                <a:latin typeface="Lato"/>
              </a:rPr>
              <a:t>→  </a:t>
            </a:r>
            <a:r>
              <a:rPr sz="1400" b="1" dirty="0" err="1">
                <a:solidFill>
                  <a:srgbClr val="333333"/>
                </a:solidFill>
                <a:latin typeface="Lato"/>
              </a:rPr>
              <a:t>cria</a:t>
            </a:r>
            <a:r>
              <a:rPr sz="1400" b="1" dirty="0">
                <a:solidFill>
                  <a:srgbClr val="333333"/>
                </a:solidFill>
                <a:latin typeface="Lato"/>
              </a:rPr>
              <a:t> um novo </a:t>
            </a:r>
            <a:r>
              <a:rPr lang="en-US" sz="1400" b="1" dirty="0" err="1">
                <a:solidFill>
                  <a:srgbClr val="333333"/>
                </a:solidFill>
                <a:latin typeface="Lato"/>
              </a:rPr>
              <a:t>cliente</a:t>
            </a:r>
            <a:endParaRPr sz="1400" b="1" dirty="0">
              <a:solidFill>
                <a:srgbClr val="333333"/>
              </a:solidFill>
              <a:latin typeface="Lato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0000" y="2400000"/>
            <a:ext cx="160000" cy="4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0000" y="2400000"/>
            <a:ext cx="5727500" cy="4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0000" y="2450000"/>
            <a:ext cx="56575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Lato"/>
              </a:rPr>
              <a:t>1. Cliente HTTP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665000"/>
            <a:ext cx="56575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555555"/>
                </a:solidFill>
                <a:latin typeface="Lato"/>
              </a:rPr>
              <a:t>Envia POST /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api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/</a:t>
            </a:r>
            <a:r>
              <a:rPr lang="en-US" sz="1100" b="0" dirty="0" err="1">
                <a:solidFill>
                  <a:srgbClr val="555555"/>
                </a:solidFill>
                <a:latin typeface="Lato"/>
              </a:rPr>
              <a:t>cliente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com JSON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0000" y="2960000"/>
            <a:ext cx="160000" cy="480000"/>
          </a:xfrm>
          <a:prstGeom prst="rect">
            <a:avLst/>
          </a:prstGeom>
          <a:solidFill>
            <a:srgbClr val="00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0000" y="2960000"/>
            <a:ext cx="5727500" cy="4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0000" y="3010000"/>
            <a:ext cx="56575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333333"/>
                </a:solidFill>
                <a:latin typeface="Lato"/>
              </a:rPr>
              <a:t>2. Controller (</a:t>
            </a:r>
            <a:r>
              <a:rPr lang="en-US" sz="1300" b="1" dirty="0" err="1">
                <a:solidFill>
                  <a:srgbClr val="333333"/>
                </a:solidFill>
                <a:latin typeface="Lato"/>
              </a:rPr>
              <a:t>Credis</a:t>
            </a:r>
            <a:r>
              <a:rPr sz="1300" b="1" dirty="0" err="1">
                <a:solidFill>
                  <a:srgbClr val="333333"/>
                </a:solidFill>
                <a:latin typeface="Lato"/>
              </a:rPr>
              <a:t>.Core</a:t>
            </a:r>
            <a:r>
              <a:rPr sz="1300" b="1" dirty="0">
                <a:solidFill>
                  <a:srgbClr val="333333"/>
                </a:solidFill>
                <a:latin typeface="Lato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00" y="3225000"/>
            <a:ext cx="56575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555555"/>
                </a:solidFill>
                <a:latin typeface="Lato"/>
              </a:rPr>
              <a:t>Deserializa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,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valida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, chama </a:t>
            </a:r>
            <a:r>
              <a:rPr lang="en-US" sz="1100" b="0" dirty="0" err="1">
                <a:solidFill>
                  <a:srgbClr val="555555"/>
                </a:solidFill>
                <a:latin typeface="Lato"/>
              </a:rPr>
              <a:t>Cliente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Service</a:t>
            </a:r>
            <a:endParaRPr sz="1100" b="0" dirty="0">
              <a:solidFill>
                <a:srgbClr val="555555"/>
              </a:solidFill>
              <a:latin typeface="Lato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80000" y="3520000"/>
            <a:ext cx="160000" cy="480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0000" y="3520000"/>
            <a:ext cx="5727500" cy="4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0000" y="3570000"/>
            <a:ext cx="56575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Lato"/>
              </a:rPr>
              <a:t>3. Service (Application)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000" y="3785000"/>
            <a:ext cx="56575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Lato"/>
              </a:rPr>
              <a:t>Cria entidade Pedido, aplica regras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0000" y="4080000"/>
            <a:ext cx="160000" cy="48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0000" y="4080000"/>
            <a:ext cx="5727500" cy="4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0000" y="4130000"/>
            <a:ext cx="56575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Lato"/>
              </a:rPr>
              <a:t>4. Repository (Infra)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000" y="4345000"/>
            <a:ext cx="56575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Lato"/>
              </a:rPr>
              <a:t>EF Core persiste no SQL Server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0000" y="4640000"/>
            <a:ext cx="160000" cy="480000"/>
          </a:xfrm>
          <a:prstGeom prst="rect">
            <a:avLst/>
          </a:prstGeom>
          <a:solidFill>
            <a:srgbClr val="99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0000" y="4640000"/>
            <a:ext cx="5727500" cy="4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0000" y="4690000"/>
            <a:ext cx="56575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Lato"/>
              </a:rPr>
              <a:t>5. Banco de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000" y="4905000"/>
            <a:ext cx="56575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555555"/>
                </a:solidFill>
                <a:latin typeface="Lato"/>
              </a:rPr>
              <a:t>INSERT INTO </a:t>
            </a:r>
            <a:r>
              <a:rPr lang="en-US" sz="1100" b="0" dirty="0" err="1">
                <a:solidFill>
                  <a:srgbClr val="555555"/>
                </a:solidFill>
                <a:latin typeface="Lato"/>
              </a:rPr>
              <a:t>Clientes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0000" y="5300000"/>
            <a:ext cx="59075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4A853"/>
                </a:solidFill>
                <a:latin typeface="Lato"/>
              </a:rPr>
              <a:t>↩  Resposta: 201 Created  +  { id: "..."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667500" cy="1600000"/>
          </a:xfrm>
          <a:prstGeom prst="rect">
            <a:avLst/>
          </a:prstGeom>
          <a:solidFill>
            <a:srgbClr val="00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0000" y="150000"/>
            <a:ext cx="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107"/>
                </a:solidFill>
                <a:latin typeface="Lat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50000"/>
            <a:ext cx="56075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Lato"/>
              </a:rPr>
              <a:t>Estudo</a:t>
            </a:r>
            <a:r>
              <a:rPr sz="2200" b="1" dirty="0">
                <a:solidFill>
                  <a:srgbClr val="FFFFFF"/>
                </a:solidFill>
                <a:latin typeface="Lato"/>
              </a:rPr>
              <a:t> de Caso: </a:t>
            </a:r>
            <a:r>
              <a:rPr lang="en-US" sz="2200" b="1" dirty="0" err="1">
                <a:solidFill>
                  <a:srgbClr val="FFFFFF"/>
                </a:solidFill>
                <a:latin typeface="Lato"/>
              </a:rPr>
              <a:t>Credisis</a:t>
            </a:r>
            <a:r>
              <a:rPr sz="2200" b="1" dirty="0">
                <a:solidFill>
                  <a:srgbClr val="FFFFFF"/>
                </a:solidFill>
                <a:latin typeface="Lato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Lato"/>
              </a:rPr>
              <a:t>Cliente</a:t>
            </a:r>
            <a:endParaRPr sz="2200" b="1" dirty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0000" y="1050000"/>
            <a:ext cx="59075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Lato"/>
              </a:rPr>
              <a:t>C#/.NET na Prática — Aula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1750000"/>
            <a:ext cx="59075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Lato"/>
              </a:rPr>
              <a:t>Um projeto .NET real que vocês podem abrir agora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80000" y="2350000"/>
            <a:ext cx="5907500" cy="420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000" y="2390000"/>
            <a:ext cx="5747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rgbClr val="006AC9"/>
                </a:solidFill>
                <a:latin typeface="Courier New"/>
              </a:rPr>
              <a:t>Teste</a:t>
            </a:r>
            <a:r>
              <a:rPr sz="1200" b="1" dirty="0" err="1">
                <a:solidFill>
                  <a:srgbClr val="006AC9"/>
                </a:solidFill>
                <a:latin typeface="Courier New"/>
              </a:rPr>
              <a:t>.Domain</a:t>
            </a:r>
            <a:r>
              <a:rPr sz="1200" b="1" dirty="0">
                <a:solidFill>
                  <a:srgbClr val="006AC9"/>
                </a:solidFill>
                <a:latin typeface="Courier New"/>
              </a:rPr>
              <a:t>/</a:t>
            </a:r>
            <a:r>
              <a:rPr lang="en-US" sz="1200" b="1" dirty="0" err="1">
                <a:solidFill>
                  <a:srgbClr val="006AC9"/>
                </a:solidFill>
                <a:latin typeface="Courier New"/>
              </a:rPr>
              <a:t>Cliente</a:t>
            </a:r>
            <a:r>
              <a:rPr sz="1200" b="1" dirty="0">
                <a:solidFill>
                  <a:srgbClr val="006AC9"/>
                </a:solidFill>
                <a:latin typeface="Courier New"/>
              </a:rPr>
              <a:t>/</a:t>
            </a:r>
            <a:r>
              <a:rPr lang="en-US" sz="1200" b="1" dirty="0">
                <a:solidFill>
                  <a:srgbClr val="006AC9"/>
                </a:solidFill>
                <a:latin typeface="Courier New"/>
              </a:rPr>
              <a:t> </a:t>
            </a:r>
            <a:r>
              <a:rPr lang="en-US" sz="1200" b="1" dirty="0" err="1">
                <a:solidFill>
                  <a:srgbClr val="006AC9"/>
                </a:solidFill>
                <a:latin typeface="Courier New"/>
              </a:rPr>
              <a:t>Cliente</a:t>
            </a:r>
            <a:r>
              <a:rPr sz="1200" b="1" dirty="0" err="1">
                <a:solidFill>
                  <a:srgbClr val="006AC9"/>
                </a:solidFill>
                <a:latin typeface="Courier New"/>
              </a:rPr>
              <a:t>.cs</a:t>
            </a:r>
            <a:endParaRPr sz="1200" b="1" dirty="0">
              <a:solidFill>
                <a:srgbClr val="006AC9"/>
              </a:solidFill>
              <a:latin typeface="Courier New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0000" y="2590000"/>
            <a:ext cx="57475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555555"/>
                </a:solidFill>
                <a:latin typeface="Lato"/>
              </a:rPr>
              <a:t>Entidade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principal —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contém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status,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itens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,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cliente</a:t>
            </a:r>
            <a:endParaRPr sz="1100" b="0" dirty="0">
              <a:solidFill>
                <a:srgbClr val="555555"/>
              </a:solidFill>
              <a:latin typeface="Lato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0000" y="2820000"/>
            <a:ext cx="5907500" cy="420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000" y="2860000"/>
            <a:ext cx="5747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rgbClr val="006AC9"/>
                </a:solidFill>
                <a:latin typeface="Courier New"/>
              </a:rPr>
              <a:t>Teste</a:t>
            </a:r>
            <a:r>
              <a:rPr sz="1200" b="1" dirty="0" err="1">
                <a:solidFill>
                  <a:srgbClr val="006AC9"/>
                </a:solidFill>
                <a:latin typeface="Courier New"/>
              </a:rPr>
              <a:t>.Domain</a:t>
            </a:r>
            <a:r>
              <a:rPr sz="1200" b="1" dirty="0">
                <a:solidFill>
                  <a:srgbClr val="006AC9"/>
                </a:solidFill>
                <a:latin typeface="Courier New"/>
              </a:rPr>
              <a:t>/Interfaces/</a:t>
            </a:r>
            <a:r>
              <a:rPr lang="en-US" sz="1200" b="1" dirty="0" err="1">
                <a:solidFill>
                  <a:srgbClr val="006AC9"/>
                </a:solidFill>
                <a:latin typeface="Courier New"/>
              </a:rPr>
              <a:t>Cliente</a:t>
            </a:r>
            <a:r>
              <a:rPr sz="1200" b="1" dirty="0">
                <a:solidFill>
                  <a:srgbClr val="006AC9"/>
                </a:solidFill>
                <a:latin typeface="Courier New"/>
              </a:rPr>
              <a:t>/</a:t>
            </a:r>
            <a:r>
              <a:rPr sz="1200" b="1" dirty="0" err="1">
                <a:solidFill>
                  <a:srgbClr val="006AC9"/>
                </a:solidFill>
                <a:latin typeface="Courier New"/>
              </a:rPr>
              <a:t>I</a:t>
            </a:r>
            <a:r>
              <a:rPr lang="en-US" sz="1200" b="1" dirty="0" err="1">
                <a:solidFill>
                  <a:srgbClr val="006AC9"/>
                </a:solidFill>
                <a:latin typeface="Courier New"/>
              </a:rPr>
              <a:t>Cliente</a:t>
            </a:r>
            <a:r>
              <a:rPr sz="1200" b="1" dirty="0" err="1">
                <a:solidFill>
                  <a:srgbClr val="006AC9"/>
                </a:solidFill>
                <a:latin typeface="Courier New"/>
              </a:rPr>
              <a:t>Repository.cs</a:t>
            </a:r>
            <a:endParaRPr sz="1200" b="1" dirty="0">
              <a:solidFill>
                <a:srgbClr val="006AC9"/>
              </a:solidFill>
              <a:latin typeface="Courier New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0000" y="3060000"/>
            <a:ext cx="57475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555555"/>
                </a:solidFill>
                <a:latin typeface="Lato"/>
              </a:rPr>
              <a:t>Contrato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que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Infra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deve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implementar</a:t>
            </a:r>
            <a:endParaRPr sz="1100" b="0" dirty="0">
              <a:solidFill>
                <a:srgbClr val="555555"/>
              </a:solidFill>
              <a:latin typeface="Lato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0000" y="3290000"/>
            <a:ext cx="5907500" cy="420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000" y="3330000"/>
            <a:ext cx="5747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rgbClr val="006AC9"/>
                </a:solidFill>
                <a:latin typeface="Courier New"/>
              </a:rPr>
              <a:t>Teste</a:t>
            </a:r>
            <a:r>
              <a:rPr sz="1200" b="1" dirty="0" err="1">
                <a:solidFill>
                  <a:srgbClr val="006AC9"/>
                </a:solidFill>
                <a:latin typeface="Courier New"/>
              </a:rPr>
              <a:t>.Application</a:t>
            </a:r>
            <a:r>
              <a:rPr sz="1200" b="1" dirty="0">
                <a:solidFill>
                  <a:srgbClr val="006AC9"/>
                </a:solidFill>
                <a:latin typeface="Courier New"/>
              </a:rPr>
              <a:t>/</a:t>
            </a:r>
            <a:r>
              <a:rPr lang="en-US" sz="1200" b="1" dirty="0" err="1">
                <a:solidFill>
                  <a:srgbClr val="006AC9"/>
                </a:solidFill>
                <a:latin typeface="Courier New"/>
              </a:rPr>
              <a:t>Cliente</a:t>
            </a:r>
            <a:r>
              <a:rPr sz="1200" b="1" dirty="0">
                <a:solidFill>
                  <a:srgbClr val="006AC9"/>
                </a:solidFill>
                <a:latin typeface="Courier New"/>
              </a:rPr>
              <a:t>/</a:t>
            </a:r>
            <a:r>
              <a:rPr lang="en-US" sz="1200" b="1" dirty="0" err="1">
                <a:solidFill>
                  <a:srgbClr val="006AC9"/>
                </a:solidFill>
                <a:latin typeface="Courier New"/>
              </a:rPr>
              <a:t>Cliente</a:t>
            </a:r>
            <a:r>
              <a:rPr sz="1200" b="1" dirty="0" err="1">
                <a:solidFill>
                  <a:srgbClr val="006AC9"/>
                </a:solidFill>
                <a:latin typeface="Courier New"/>
              </a:rPr>
              <a:t>Service.cs</a:t>
            </a:r>
            <a:endParaRPr sz="1200" b="1" dirty="0">
              <a:solidFill>
                <a:srgbClr val="006AC9"/>
              </a:solidFill>
              <a:latin typeface="Courier New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0000" y="3530000"/>
            <a:ext cx="57475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Lato"/>
              </a:rPr>
              <a:t>Orquestra criação, busca, cancelamento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0000" y="3760000"/>
            <a:ext cx="5907500" cy="420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0000" y="3800000"/>
            <a:ext cx="5747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rgbClr val="006AC9"/>
                </a:solidFill>
                <a:latin typeface="Courier New"/>
              </a:rPr>
              <a:t>Teste</a:t>
            </a:r>
            <a:r>
              <a:rPr sz="1200" b="1" dirty="0" err="1">
                <a:solidFill>
                  <a:srgbClr val="006AC9"/>
                </a:solidFill>
                <a:latin typeface="Courier New"/>
              </a:rPr>
              <a:t>.Infra</a:t>
            </a:r>
            <a:r>
              <a:rPr sz="1200" b="1" dirty="0">
                <a:solidFill>
                  <a:srgbClr val="006AC9"/>
                </a:solidFill>
                <a:latin typeface="Courier New"/>
              </a:rPr>
              <a:t>/Data/Repository/</a:t>
            </a:r>
            <a:r>
              <a:rPr lang="en-US" sz="1200" b="1" dirty="0" err="1">
                <a:solidFill>
                  <a:srgbClr val="006AC9"/>
                </a:solidFill>
                <a:latin typeface="Courier New"/>
              </a:rPr>
              <a:t>Cliente</a:t>
            </a:r>
            <a:r>
              <a:rPr sz="1200" b="1" dirty="0" err="1">
                <a:solidFill>
                  <a:srgbClr val="006AC9"/>
                </a:solidFill>
                <a:latin typeface="Courier New"/>
              </a:rPr>
              <a:t>Repository.cs</a:t>
            </a:r>
            <a:endParaRPr sz="1200" b="1" dirty="0">
              <a:solidFill>
                <a:srgbClr val="006AC9"/>
              </a:solidFill>
              <a:latin typeface="Courier New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0000" y="4000000"/>
            <a:ext cx="57475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Lato"/>
              </a:rPr>
              <a:t>EF Core + SQL Server de verdade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0000" y="4230000"/>
            <a:ext cx="5907500" cy="420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0000" y="4270000"/>
            <a:ext cx="5747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rgbClr val="006AC9"/>
                </a:solidFill>
                <a:latin typeface="Courier New"/>
              </a:rPr>
              <a:t>Teste</a:t>
            </a:r>
            <a:r>
              <a:rPr sz="1200" b="1" dirty="0" err="1">
                <a:solidFill>
                  <a:srgbClr val="006AC9"/>
                </a:solidFill>
                <a:latin typeface="Courier New"/>
              </a:rPr>
              <a:t>.Core</a:t>
            </a:r>
            <a:r>
              <a:rPr sz="1200" b="1" dirty="0">
                <a:solidFill>
                  <a:srgbClr val="006AC9"/>
                </a:solidFill>
                <a:latin typeface="Courier New"/>
              </a:rPr>
              <a:t>/Controllers/</a:t>
            </a:r>
            <a:r>
              <a:rPr lang="en-US" sz="1200" b="1" dirty="0" err="1">
                <a:solidFill>
                  <a:srgbClr val="006AC9"/>
                </a:solidFill>
                <a:latin typeface="Courier New"/>
              </a:rPr>
              <a:t>Cliente</a:t>
            </a:r>
            <a:r>
              <a:rPr sz="1200" b="1" dirty="0" err="1">
                <a:solidFill>
                  <a:srgbClr val="006AC9"/>
                </a:solidFill>
                <a:latin typeface="Courier New"/>
              </a:rPr>
              <a:t>Controller.cs</a:t>
            </a:r>
            <a:r>
              <a:rPr sz="1200" b="1" dirty="0">
                <a:solidFill>
                  <a:srgbClr val="006AC9"/>
                </a:solidFill>
                <a:latin typeface="Courier New"/>
              </a:rPr>
              <a:t> (</a:t>
            </a:r>
            <a:r>
              <a:rPr sz="1200" b="1" dirty="0" err="1">
                <a:solidFill>
                  <a:srgbClr val="006AC9"/>
                </a:solidFill>
                <a:latin typeface="Courier New"/>
              </a:rPr>
              <a:t>ou</a:t>
            </a:r>
            <a:r>
              <a:rPr sz="1200" b="1" dirty="0">
                <a:solidFill>
                  <a:srgbClr val="006AC9"/>
                </a:solidFill>
                <a:latin typeface="Courier New"/>
              </a:rPr>
              <a:t> similar)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000" y="4470000"/>
            <a:ext cx="57475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Lato"/>
              </a:rPr>
              <a:t>Expõe GET/POST/PUT via HTTP 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000" y="4850000"/>
            <a:ext cx="59075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6AC9"/>
                </a:solidFill>
                <a:latin typeface="Lato"/>
              </a:rPr>
              <a:t>👉 Abra o projeto e siga o fluxo junto!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667500" cy="1600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0000" y="150000"/>
            <a:ext cx="59075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Lato"/>
              </a:rPr>
              <a:t>🎯 DESAFIO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000" y="1050000"/>
            <a:ext cx="59075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DCC"/>
                </a:solidFill>
                <a:latin typeface="Lato"/>
              </a:rPr>
              <a:t>C#/.NET na Prática — Aula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1800000"/>
            <a:ext cx="59075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Lato"/>
              </a:rPr>
              <a:t>Para a próxima semana:</a:t>
            </a:r>
          </a:p>
        </p:txBody>
      </p:sp>
      <p:sp>
        <p:nvSpPr>
          <p:cNvPr id="7" name="Rectangle 6"/>
          <p:cNvSpPr/>
          <p:nvPr/>
        </p:nvSpPr>
        <p:spPr>
          <a:xfrm>
            <a:off x="380000" y="2450000"/>
            <a:ext cx="320000" cy="560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0000" y="2580000"/>
            <a:ext cx="3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000" y="2480000"/>
            <a:ext cx="5527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 err="1">
                <a:solidFill>
                  <a:srgbClr val="333333"/>
                </a:solidFill>
                <a:latin typeface="Lato"/>
              </a:rPr>
              <a:t>Criar</a:t>
            </a:r>
            <a:r>
              <a:rPr lang="en-US" sz="1400" b="1" dirty="0">
                <a:solidFill>
                  <a:srgbClr val="333333"/>
                </a:solidFill>
                <a:latin typeface="Lato"/>
              </a:rPr>
              <a:t> </a:t>
            </a:r>
            <a:r>
              <a:rPr sz="1400" b="1" dirty="0">
                <a:solidFill>
                  <a:srgbClr val="333333"/>
                </a:solidFill>
                <a:latin typeface="Lato"/>
              </a:rPr>
              <a:t>o </a:t>
            </a:r>
            <a:r>
              <a:rPr sz="1400" b="1" dirty="0" err="1">
                <a:solidFill>
                  <a:srgbClr val="333333"/>
                </a:solidFill>
                <a:latin typeface="Lato"/>
              </a:rPr>
              <a:t>projeto</a:t>
            </a:r>
            <a:r>
              <a:rPr lang="en-US" sz="1400" b="1" dirty="0">
                <a:solidFill>
                  <a:srgbClr val="333333"/>
                </a:solidFill>
                <a:latin typeface="Lato"/>
              </a:rPr>
              <a:t> Teste</a:t>
            </a:r>
            <a:endParaRPr sz="1400" b="1" dirty="0">
              <a:solidFill>
                <a:srgbClr val="333333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0000" y="2720000"/>
            <a:ext cx="55275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555555"/>
                </a:solidFill>
                <a:latin typeface="Lato"/>
              </a:rPr>
              <a:t>Localize</a:t>
            </a:r>
            <a:r>
              <a:rPr lang="en-US" sz="1100" b="0" dirty="0">
                <a:solidFill>
                  <a:srgbClr val="555555"/>
                </a:solidFill>
                <a:latin typeface="Lato"/>
              </a:rPr>
              <a:t> </a:t>
            </a:r>
            <a:r>
              <a:rPr lang="en-US" sz="1100" b="0" dirty="0" err="1">
                <a:solidFill>
                  <a:srgbClr val="555555"/>
                </a:solidFill>
                <a:latin typeface="Lato"/>
              </a:rPr>
              <a:t>Teste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.Domain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, </a:t>
            </a:r>
            <a:r>
              <a:rPr lang="en-US" sz="1100" dirty="0" err="1">
                <a:solidFill>
                  <a:srgbClr val="555555"/>
                </a:solidFill>
                <a:latin typeface="Lato"/>
              </a:rPr>
              <a:t>Teste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.Application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, </a:t>
            </a:r>
            <a:r>
              <a:rPr lang="en-US" sz="1100" dirty="0" err="1">
                <a:solidFill>
                  <a:srgbClr val="555555"/>
                </a:solidFill>
                <a:latin typeface="Lato"/>
              </a:rPr>
              <a:t>Teste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.Infra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e </a:t>
            </a:r>
            <a:r>
              <a:rPr lang="en-US" sz="1100" dirty="0" err="1">
                <a:solidFill>
                  <a:srgbClr val="555555"/>
                </a:solidFill>
                <a:latin typeface="Lato"/>
              </a:rPr>
              <a:t>Teste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.Core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no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seu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VS/Rider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000" y="3090000"/>
            <a:ext cx="320000" cy="560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0000" y="3220000"/>
            <a:ext cx="3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000" y="3120000"/>
            <a:ext cx="55275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Lato"/>
              </a:rPr>
              <a:t>Leia a entidade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000" y="3360000"/>
            <a:ext cx="55275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 err="1">
                <a:solidFill>
                  <a:srgbClr val="555555"/>
                </a:solidFill>
                <a:latin typeface="Lato"/>
              </a:rPr>
              <a:t>Arquivo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: </a:t>
            </a:r>
            <a:r>
              <a:rPr lang="en-US" sz="1100" dirty="0" err="1">
                <a:solidFill>
                  <a:srgbClr val="555555"/>
                </a:solidFill>
                <a:latin typeface="Lato"/>
              </a:rPr>
              <a:t>Teste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.Domain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/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Cliente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/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Cliente.cs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
O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que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são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os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campos?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Que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regras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tem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0000" y="3730000"/>
            <a:ext cx="320000" cy="560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000" y="3860000"/>
            <a:ext cx="3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Lat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000" y="3760000"/>
            <a:ext cx="55275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Lato"/>
              </a:rPr>
              <a:t>Trace o fluxo de GET /api/clientes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000" y="4000000"/>
            <a:ext cx="55275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555555"/>
                </a:solidFill>
                <a:latin typeface="Lato"/>
              </a:rPr>
              <a:t>Começa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em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qual Controller? Chama qual Service?
Qual Repository? Qual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tabela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no BD?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0000" y="4370000"/>
            <a:ext cx="320000" cy="560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0000" y="4500000"/>
            <a:ext cx="3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Lato"/>
              </a:rPr>
              <a:t>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000" y="4400000"/>
            <a:ext cx="55275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333333"/>
                </a:solidFill>
                <a:latin typeface="Lato"/>
              </a:rPr>
              <a:t>Bônus</a:t>
            </a:r>
            <a:r>
              <a:rPr sz="1400" b="1" dirty="0">
                <a:solidFill>
                  <a:srgbClr val="333333"/>
                </a:solidFill>
                <a:latin typeface="Lato"/>
              </a:rPr>
              <a:t>: </a:t>
            </a:r>
            <a:r>
              <a:rPr sz="1400" b="1" dirty="0" err="1">
                <a:solidFill>
                  <a:srgbClr val="333333"/>
                </a:solidFill>
                <a:latin typeface="Lato"/>
              </a:rPr>
              <a:t>crie</a:t>
            </a:r>
            <a:r>
              <a:rPr sz="1400" b="1" dirty="0">
                <a:solidFill>
                  <a:srgbClr val="333333"/>
                </a:solidFill>
                <a:latin typeface="Lato"/>
              </a:rPr>
              <a:t> </a:t>
            </a:r>
            <a:r>
              <a:rPr sz="1400" b="1" dirty="0" err="1">
                <a:solidFill>
                  <a:srgbClr val="333333"/>
                </a:solidFill>
                <a:latin typeface="Lato"/>
              </a:rPr>
              <a:t>uma</a:t>
            </a:r>
            <a:r>
              <a:rPr sz="1400" b="1" dirty="0">
                <a:solidFill>
                  <a:srgbClr val="333333"/>
                </a:solidFill>
                <a:latin typeface="Lato"/>
              </a:rPr>
              <a:t> </a:t>
            </a:r>
            <a:r>
              <a:rPr sz="1400" b="1" dirty="0" err="1">
                <a:solidFill>
                  <a:srgbClr val="333333"/>
                </a:solidFill>
                <a:latin typeface="Lato"/>
              </a:rPr>
              <a:t>entidade</a:t>
            </a:r>
            <a:r>
              <a:rPr sz="1400" b="1" dirty="0">
                <a:solidFill>
                  <a:srgbClr val="333333"/>
                </a:solidFill>
                <a:latin typeface="Lato"/>
              </a:rPr>
              <a:t> simples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000" y="4640000"/>
            <a:ext cx="55275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555555"/>
                </a:solidFill>
                <a:latin typeface="Lato"/>
              </a:rPr>
              <a:t>Crie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"</a:t>
            </a:r>
            <a:r>
              <a:rPr lang="en-US" sz="1100" b="0" dirty="0" err="1">
                <a:solidFill>
                  <a:srgbClr val="555555"/>
                </a:solidFill>
                <a:latin typeface="Lato"/>
              </a:rPr>
              <a:t>Produto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" com Id, Nome, </a:t>
            </a:r>
            <a:r>
              <a:rPr lang="en-US" sz="1100" b="0" dirty="0" err="1">
                <a:solidFill>
                  <a:srgbClr val="555555"/>
                </a:solidFill>
                <a:latin typeface="Lato"/>
              </a:rPr>
              <a:t>Preco</a:t>
            </a:r>
            <a:r>
              <a:rPr lang="en-US" sz="1100" b="0" dirty="0">
                <a:solidFill>
                  <a:srgbClr val="555555"/>
                </a:solidFill>
                <a:latin typeface="Lato"/>
              </a:rPr>
              <a:t> 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e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CriadoEm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
(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sem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precisar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conectar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 no BD </a:t>
            </a:r>
            <a:r>
              <a:rPr sz="1100" b="0" dirty="0" err="1">
                <a:solidFill>
                  <a:srgbClr val="555555"/>
                </a:solidFill>
                <a:latin typeface="Lato"/>
              </a:rPr>
              <a:t>ainda</a:t>
            </a:r>
            <a:r>
              <a:rPr sz="1100" b="0" dirty="0">
                <a:solidFill>
                  <a:srgbClr val="555555"/>
                </a:solidFill>
                <a:latin typeface="Lato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000" y="5110000"/>
            <a:ext cx="59075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Lato"/>
              </a:rPr>
              <a:t>📬 Poste sua dúvida ou resultado no grupo!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11239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667500" cy="11239500"/>
          </a:xfrm>
          <a:prstGeom prst="rect">
            <a:avLst/>
          </a:prstGeom>
          <a:solidFill>
            <a:srgbClr val="00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0000" y="2000000"/>
            <a:ext cx="59075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Lato"/>
              </a:rPr>
              <a:t>C#/.NET na Prática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000" y="2950000"/>
            <a:ext cx="59075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C107"/>
                </a:solidFill>
                <a:latin typeface="Lato"/>
              </a:rPr>
              <a:t>Aula 01 concluída! ✅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000" y="3800000"/>
            <a:ext cx="5907500" cy="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0000" y="4100000"/>
            <a:ext cx="5507500" cy="2082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Lato"/>
              </a:rPr>
              <a:t>✔  Por </a:t>
            </a:r>
            <a:r>
              <a:rPr sz="1600" b="0" dirty="0" err="1">
                <a:solidFill>
                  <a:srgbClr val="FFFFFF"/>
                </a:solidFill>
                <a:latin typeface="Lato"/>
              </a:rPr>
              <a:t>que</a:t>
            </a:r>
            <a:r>
              <a:rPr sz="1600" b="0" dirty="0">
                <a:solidFill>
                  <a:srgbClr val="FFFFFF"/>
                </a:solidFill>
                <a:latin typeface="Lato"/>
              </a:rPr>
              <a:t> C#/.NET</a:t>
            </a:r>
          </a:p>
          <a:p>
            <a:pPr algn="l">
              <a:spcBef>
                <a:spcPts val="800"/>
              </a:spcBef>
            </a:pPr>
            <a:r>
              <a:rPr sz="1600" b="0" dirty="0">
                <a:solidFill>
                  <a:srgbClr val="FFFFFF"/>
                </a:solidFill>
                <a:latin typeface="Lato"/>
              </a:rPr>
              <a:t>✔  </a:t>
            </a:r>
            <a:r>
              <a:rPr sz="1600" b="0" dirty="0" err="1">
                <a:solidFill>
                  <a:srgbClr val="FFFFFF"/>
                </a:solidFill>
                <a:latin typeface="Lato"/>
              </a:rPr>
              <a:t>Ecossistema</a:t>
            </a:r>
            <a:r>
              <a:rPr sz="1600" b="0" dirty="0">
                <a:solidFill>
                  <a:srgbClr val="FFFFFF"/>
                </a:solidFill>
                <a:latin typeface="Lato"/>
              </a:rPr>
              <a:t>: CLR, BCL, ASP.NET, EF Core</a:t>
            </a:r>
          </a:p>
          <a:p>
            <a:pPr algn="l">
              <a:spcBef>
                <a:spcPts val="800"/>
              </a:spcBef>
            </a:pPr>
            <a:r>
              <a:rPr sz="1600" b="0" dirty="0">
                <a:solidFill>
                  <a:srgbClr val="FFFFFF"/>
                </a:solidFill>
                <a:latin typeface="Lato"/>
              </a:rPr>
              <a:t>✔  Clean Architecture (4 </a:t>
            </a:r>
            <a:r>
              <a:rPr sz="1600" b="0" dirty="0" err="1">
                <a:solidFill>
                  <a:srgbClr val="FFFFFF"/>
                </a:solidFill>
                <a:latin typeface="Lato"/>
              </a:rPr>
              <a:t>camadas</a:t>
            </a:r>
            <a:r>
              <a:rPr sz="1600" b="0" dirty="0">
                <a:solidFill>
                  <a:srgbClr val="FFFFFF"/>
                </a:solidFill>
                <a:latin typeface="Lato"/>
              </a:rPr>
              <a:t>)</a:t>
            </a:r>
          </a:p>
          <a:p>
            <a:pPr algn="l">
              <a:spcBef>
                <a:spcPts val="800"/>
              </a:spcBef>
            </a:pPr>
            <a:r>
              <a:rPr sz="1600" b="0" dirty="0">
                <a:solidFill>
                  <a:srgbClr val="FFFFFF"/>
                </a:solidFill>
                <a:latin typeface="Lato"/>
              </a:rPr>
              <a:t>✔  Domain → Application → Infra → API</a:t>
            </a:r>
          </a:p>
          <a:p>
            <a:pPr algn="l">
              <a:spcBef>
                <a:spcPts val="800"/>
              </a:spcBef>
            </a:pPr>
            <a:r>
              <a:rPr sz="1600" b="0" dirty="0">
                <a:solidFill>
                  <a:srgbClr val="FFFFFF"/>
                </a:solidFill>
                <a:latin typeface="Lato"/>
              </a:rPr>
              <a:t>✔  </a:t>
            </a:r>
            <a:r>
              <a:rPr sz="1600" b="0" dirty="0" err="1">
                <a:solidFill>
                  <a:srgbClr val="FFFFFF"/>
                </a:solidFill>
                <a:latin typeface="Lato"/>
              </a:rPr>
              <a:t>Fluxo</a:t>
            </a:r>
            <a:r>
              <a:rPr sz="1600" b="0" dirty="0">
                <a:solidFill>
                  <a:srgbClr val="FFFFFF"/>
                </a:solidFill>
                <a:latin typeface="Lato"/>
              </a:rPr>
              <a:t> de </a:t>
            </a:r>
            <a:r>
              <a:rPr sz="1600" b="0" dirty="0" err="1">
                <a:solidFill>
                  <a:srgbClr val="FFFFFF"/>
                </a:solidFill>
                <a:latin typeface="Lato"/>
              </a:rPr>
              <a:t>uma</a:t>
            </a:r>
            <a:r>
              <a:rPr sz="1600" b="0" dirty="0">
                <a:solidFill>
                  <a:srgbClr val="FFFFFF"/>
                </a:solidFill>
                <a:latin typeface="Lato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Lato"/>
              </a:rPr>
              <a:t>requisição</a:t>
            </a:r>
            <a:r>
              <a:rPr sz="1600" b="0" dirty="0">
                <a:solidFill>
                  <a:srgbClr val="FFFFFF"/>
                </a:solidFill>
                <a:latin typeface="Lato"/>
              </a:rPr>
              <a:t> real</a:t>
            </a:r>
          </a:p>
          <a:p>
            <a:pPr algn="l">
              <a:spcBef>
                <a:spcPts val="800"/>
              </a:spcBef>
            </a:pPr>
            <a:r>
              <a:rPr sz="1600" b="0" dirty="0">
                <a:solidFill>
                  <a:srgbClr val="FFFFFF"/>
                </a:solidFill>
                <a:latin typeface="Lato"/>
              </a:rPr>
              <a:t>✔  </a:t>
            </a:r>
            <a:r>
              <a:rPr sz="1600" b="0" dirty="0" err="1">
                <a:solidFill>
                  <a:srgbClr val="FFFFFF"/>
                </a:solidFill>
                <a:latin typeface="Lato"/>
              </a:rPr>
              <a:t>Estudo</a:t>
            </a:r>
            <a:r>
              <a:rPr sz="1600" b="0" dirty="0">
                <a:solidFill>
                  <a:srgbClr val="FFFFFF"/>
                </a:solidFill>
                <a:latin typeface="Lato"/>
              </a:rPr>
              <a:t> de </a:t>
            </a:r>
            <a:r>
              <a:rPr sz="1600" b="0" dirty="0" err="1">
                <a:solidFill>
                  <a:srgbClr val="FFFFFF"/>
                </a:solidFill>
                <a:latin typeface="Lato"/>
              </a:rPr>
              <a:t>caso</a:t>
            </a:r>
            <a:r>
              <a:rPr sz="1600" b="0" dirty="0">
                <a:solidFill>
                  <a:srgbClr val="FFFFFF"/>
                </a:solidFill>
                <a:latin typeface="Lato"/>
              </a:rPr>
              <a:t>: </a:t>
            </a:r>
            <a:r>
              <a:rPr lang="en-US" sz="1600" b="0" dirty="0" err="1">
                <a:solidFill>
                  <a:srgbClr val="FFFFFF"/>
                </a:solidFill>
                <a:latin typeface="Lato"/>
              </a:rPr>
              <a:t>Pedidos</a:t>
            </a:r>
            <a:endParaRPr sz="1600" b="0" dirty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0000" y="8500000"/>
            <a:ext cx="59075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DFF"/>
                </a:solidFill>
                <a:latin typeface="Lato"/>
              </a:rPr>
              <a:t>Próxima aula: Tipos, Nullability e LINQ na prática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000" y="10300000"/>
            <a:ext cx="59075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AACC"/>
                </a:solidFill>
                <a:latin typeface="Lato"/>
              </a:rPr>
              <a:t>Grupo de Estudos Credisis  ·  Setembro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1427</Words>
  <Application>Microsoft Office PowerPoint</Application>
  <PresentationFormat>Custom</PresentationFormat>
  <Paragraphs>214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RENNA TIEDT</cp:lastModifiedBy>
  <cp:revision>3</cp:revision>
  <dcterms:created xsi:type="dcterms:W3CDTF">2013-01-27T09:14:16Z</dcterms:created>
  <dcterms:modified xsi:type="dcterms:W3CDTF">2026-10-23T11:43:01Z</dcterms:modified>
  <cp:category/>
</cp:coreProperties>
</file>